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Maven Pro Bold" charset="1" panose="00000800000000000000"/>
      <p:regular r:id="rId22"/>
    </p:embeddedFont>
    <p:embeddedFont>
      <p:font typeface="Maven Pro" charset="1" panose="000005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3E6E0"/>
        </a:solidFill>
      </p:bgPr>
    </p:bg>
    <p:spTree>
      <p:nvGrpSpPr>
        <p:cNvPr id="1" name=""/>
        <p:cNvGrpSpPr/>
        <p:nvPr/>
      </p:nvGrpSpPr>
      <p:grpSpPr>
        <a:xfrm>
          <a:off x="0" y="0"/>
          <a:ext cx="0" cy="0"/>
          <a:chOff x="0" y="0"/>
          <a:chExt cx="0" cy="0"/>
        </a:xfrm>
      </p:grpSpPr>
      <p:sp>
        <p:nvSpPr>
          <p:cNvPr name="TextBox 2" id="2"/>
          <p:cNvSpPr txBox="true"/>
          <p:nvPr/>
        </p:nvSpPr>
        <p:spPr>
          <a:xfrm rot="0">
            <a:off x="2587820" y="3840802"/>
            <a:ext cx="13112360" cy="1671946"/>
          </a:xfrm>
          <a:prstGeom prst="rect">
            <a:avLst/>
          </a:prstGeom>
        </p:spPr>
        <p:txBody>
          <a:bodyPr anchor="t" rtlCol="false" tIns="0" lIns="0" bIns="0" rIns="0">
            <a:spAutoFit/>
          </a:bodyPr>
          <a:lstStyle/>
          <a:p>
            <a:pPr algn="ctr">
              <a:lnSpc>
                <a:spcPts val="11629"/>
              </a:lnSpc>
            </a:pPr>
            <a:r>
              <a:rPr lang="en-US" b="true" sz="14537">
                <a:solidFill>
                  <a:srgbClr val="252930"/>
                </a:solidFill>
                <a:latin typeface="Maven Pro Bold"/>
                <a:ea typeface="Maven Pro Bold"/>
                <a:cs typeface="Maven Pro Bold"/>
                <a:sym typeface="Maven Pro Bold"/>
              </a:rPr>
              <a:t>CV PROJECT</a:t>
            </a:r>
          </a:p>
        </p:txBody>
      </p:sp>
      <p:sp>
        <p:nvSpPr>
          <p:cNvPr name="Freeform 3" id="3"/>
          <p:cNvSpPr/>
          <p:nvPr/>
        </p:nvSpPr>
        <p:spPr>
          <a:xfrm flipH="true" flipV="false" rot="0">
            <a:off x="-211950" y="-104775"/>
            <a:ext cx="4114800" cy="4114800"/>
          </a:xfrm>
          <a:custGeom>
            <a:avLst/>
            <a:gdLst/>
            <a:ahLst/>
            <a:cxnLst/>
            <a:rect r="r" b="b" t="t" l="l"/>
            <a:pathLst>
              <a:path h="4114800" w="4114800">
                <a:moveTo>
                  <a:pt x="4114800" y="0"/>
                </a:moveTo>
                <a:lnTo>
                  <a:pt x="0" y="0"/>
                </a:lnTo>
                <a:lnTo>
                  <a:pt x="0" y="4114800"/>
                </a:lnTo>
                <a:lnTo>
                  <a:pt x="4114800" y="4114800"/>
                </a:lnTo>
                <a:lnTo>
                  <a:pt x="41148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14297025" y="6296025"/>
            <a:ext cx="4114800" cy="4114800"/>
          </a:xfrm>
          <a:custGeom>
            <a:avLst/>
            <a:gdLst/>
            <a:ahLst/>
            <a:cxnLst/>
            <a:rect r="r" b="b" t="t" l="l"/>
            <a:pathLst>
              <a:path h="4114800" w="4114800">
                <a:moveTo>
                  <a:pt x="0" y="4114800"/>
                </a:moveTo>
                <a:lnTo>
                  <a:pt x="4114800" y="4114800"/>
                </a:lnTo>
                <a:lnTo>
                  <a:pt x="4114800"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0" y="8039083"/>
            <a:ext cx="516220" cy="2057400"/>
          </a:xfrm>
          <a:custGeom>
            <a:avLst/>
            <a:gdLst/>
            <a:ahLst/>
            <a:cxnLst/>
            <a:rect r="r" b="b" t="t" l="l"/>
            <a:pathLst>
              <a:path h="2057400" w="516220">
                <a:moveTo>
                  <a:pt x="0" y="0"/>
                </a:moveTo>
                <a:lnTo>
                  <a:pt x="516220" y="0"/>
                </a:lnTo>
                <a:lnTo>
                  <a:pt x="516220"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7657548" y="293921"/>
            <a:ext cx="516220" cy="2057400"/>
          </a:xfrm>
          <a:custGeom>
            <a:avLst/>
            <a:gdLst/>
            <a:ahLst/>
            <a:cxnLst/>
            <a:rect r="r" b="b" t="t" l="l"/>
            <a:pathLst>
              <a:path h="2057400" w="516220">
                <a:moveTo>
                  <a:pt x="0" y="0"/>
                </a:moveTo>
                <a:lnTo>
                  <a:pt x="516220" y="0"/>
                </a:lnTo>
                <a:lnTo>
                  <a:pt x="516220"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28700" y="9077308"/>
            <a:ext cx="2716317" cy="1358159"/>
          </a:xfrm>
          <a:custGeom>
            <a:avLst/>
            <a:gdLst/>
            <a:ahLst/>
            <a:cxnLst/>
            <a:rect r="r" b="b" t="t" l="l"/>
            <a:pathLst>
              <a:path h="1358159" w="2716317">
                <a:moveTo>
                  <a:pt x="0" y="0"/>
                </a:moveTo>
                <a:lnTo>
                  <a:pt x="2716317" y="0"/>
                </a:lnTo>
                <a:lnTo>
                  <a:pt x="2716317" y="1358159"/>
                </a:lnTo>
                <a:lnTo>
                  <a:pt x="0" y="13581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3711618" y="7535984"/>
            <a:ext cx="10864763" cy="503099"/>
          </a:xfrm>
          <a:prstGeom prst="rect">
            <a:avLst/>
          </a:prstGeom>
        </p:spPr>
        <p:txBody>
          <a:bodyPr anchor="t" rtlCol="false" tIns="0" lIns="0" bIns="0" rIns="0">
            <a:spAutoFit/>
          </a:bodyPr>
          <a:lstStyle/>
          <a:p>
            <a:pPr algn="ctr">
              <a:lnSpc>
                <a:spcPts val="3736"/>
              </a:lnSpc>
            </a:pPr>
            <a:r>
              <a:rPr lang="en-US" sz="3736">
                <a:solidFill>
                  <a:srgbClr val="252930"/>
                </a:solidFill>
                <a:latin typeface="Maven Pro"/>
                <a:ea typeface="Maven Pro"/>
                <a:cs typeface="Maven Pro"/>
                <a:sym typeface="Maven Pro"/>
              </a:rPr>
              <a:t>Presented by Mihir Gune</a:t>
            </a:r>
          </a:p>
        </p:txBody>
      </p:sp>
      <p:sp>
        <p:nvSpPr>
          <p:cNvPr name="Freeform 9" id="9"/>
          <p:cNvSpPr/>
          <p:nvPr/>
        </p:nvSpPr>
        <p:spPr>
          <a:xfrm flipH="false" flipV="true" rot="0">
            <a:off x="14542983" y="-104775"/>
            <a:ext cx="2716317" cy="1358159"/>
          </a:xfrm>
          <a:custGeom>
            <a:avLst/>
            <a:gdLst/>
            <a:ahLst/>
            <a:cxnLst/>
            <a:rect r="r" b="b" t="t" l="l"/>
            <a:pathLst>
              <a:path h="1358159" w="2716317">
                <a:moveTo>
                  <a:pt x="0" y="1358159"/>
                </a:moveTo>
                <a:lnTo>
                  <a:pt x="2716317" y="1358159"/>
                </a:lnTo>
                <a:lnTo>
                  <a:pt x="2716317" y="0"/>
                </a:lnTo>
                <a:lnTo>
                  <a:pt x="0" y="0"/>
                </a:lnTo>
                <a:lnTo>
                  <a:pt x="0" y="1358159"/>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3E6E0"/>
        </a:solidFill>
      </p:bgPr>
    </p:bg>
    <p:spTree>
      <p:nvGrpSpPr>
        <p:cNvPr id="1" name=""/>
        <p:cNvGrpSpPr/>
        <p:nvPr/>
      </p:nvGrpSpPr>
      <p:grpSpPr>
        <a:xfrm>
          <a:off x="0" y="0"/>
          <a:ext cx="0" cy="0"/>
          <a:chOff x="0" y="0"/>
          <a:chExt cx="0" cy="0"/>
        </a:xfrm>
      </p:grpSpPr>
      <p:grpSp>
        <p:nvGrpSpPr>
          <p:cNvPr name="Group 2" id="2"/>
          <p:cNvGrpSpPr/>
          <p:nvPr/>
        </p:nvGrpSpPr>
        <p:grpSpPr>
          <a:xfrm rot="0">
            <a:off x="2160009" y="3429683"/>
            <a:ext cx="13967983" cy="5060039"/>
            <a:chOff x="0" y="0"/>
            <a:chExt cx="3678810" cy="1332685"/>
          </a:xfrm>
        </p:grpSpPr>
        <p:sp>
          <p:nvSpPr>
            <p:cNvPr name="Freeform 3" id="3"/>
            <p:cNvSpPr/>
            <p:nvPr/>
          </p:nvSpPr>
          <p:spPr>
            <a:xfrm flipH="false" flipV="false" rot="0">
              <a:off x="0" y="0"/>
              <a:ext cx="3678810" cy="1332685"/>
            </a:xfrm>
            <a:custGeom>
              <a:avLst/>
              <a:gdLst/>
              <a:ahLst/>
              <a:cxnLst/>
              <a:rect r="r" b="b" t="t" l="l"/>
              <a:pathLst>
                <a:path h="1332685" w="3678810">
                  <a:moveTo>
                    <a:pt x="28267" y="0"/>
                  </a:moveTo>
                  <a:lnTo>
                    <a:pt x="3650543" y="0"/>
                  </a:lnTo>
                  <a:cubicBezTo>
                    <a:pt x="3666155" y="0"/>
                    <a:pt x="3678810" y="12656"/>
                    <a:pt x="3678810" y="28267"/>
                  </a:cubicBezTo>
                  <a:lnTo>
                    <a:pt x="3678810" y="1304418"/>
                  </a:lnTo>
                  <a:cubicBezTo>
                    <a:pt x="3678810" y="1320029"/>
                    <a:pt x="3666155" y="1332685"/>
                    <a:pt x="3650543" y="1332685"/>
                  </a:cubicBezTo>
                  <a:lnTo>
                    <a:pt x="28267" y="1332685"/>
                  </a:lnTo>
                  <a:cubicBezTo>
                    <a:pt x="20770" y="1332685"/>
                    <a:pt x="13580" y="1329707"/>
                    <a:pt x="8279" y="1324406"/>
                  </a:cubicBezTo>
                  <a:cubicBezTo>
                    <a:pt x="2978" y="1319105"/>
                    <a:pt x="0" y="1311915"/>
                    <a:pt x="0" y="1304418"/>
                  </a:cubicBezTo>
                  <a:lnTo>
                    <a:pt x="0" y="28267"/>
                  </a:lnTo>
                  <a:cubicBezTo>
                    <a:pt x="0" y="12656"/>
                    <a:pt x="12656" y="0"/>
                    <a:pt x="28267" y="0"/>
                  </a:cubicBezTo>
                  <a:close/>
                </a:path>
              </a:pathLst>
            </a:custGeom>
            <a:solidFill>
              <a:srgbClr val="C0B3A0">
                <a:alpha val="20784"/>
              </a:srgbClr>
            </a:solidFill>
            <a:ln w="47625" cap="rnd">
              <a:solidFill>
                <a:srgbClr val="000000">
                  <a:alpha val="20784"/>
                </a:srgbClr>
              </a:solidFill>
              <a:prstDash val="solid"/>
              <a:round/>
            </a:ln>
          </p:spPr>
        </p:sp>
        <p:sp>
          <p:nvSpPr>
            <p:cNvPr name="TextBox 4" id="4"/>
            <p:cNvSpPr txBox="true"/>
            <p:nvPr/>
          </p:nvSpPr>
          <p:spPr>
            <a:xfrm>
              <a:off x="0" y="-38100"/>
              <a:ext cx="3678810" cy="137078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9540745" y="4010025"/>
            <a:ext cx="6065714" cy="4098992"/>
            <a:chOff x="0" y="0"/>
            <a:chExt cx="8087619" cy="5465323"/>
          </a:xfrm>
        </p:grpSpPr>
        <p:sp>
          <p:nvSpPr>
            <p:cNvPr name="TextBox 6" id="6"/>
            <p:cNvSpPr txBox="true"/>
            <p:nvPr/>
          </p:nvSpPr>
          <p:spPr>
            <a:xfrm rot="0">
              <a:off x="220650" y="-304800"/>
              <a:ext cx="7866969" cy="1116098"/>
            </a:xfrm>
            <a:prstGeom prst="rect">
              <a:avLst/>
            </a:prstGeom>
          </p:spPr>
          <p:txBody>
            <a:bodyPr anchor="t" rtlCol="false" tIns="0" lIns="0" bIns="0" rIns="0">
              <a:spAutoFit/>
            </a:bodyPr>
            <a:lstStyle/>
            <a:p>
              <a:pPr algn="just" marL="872740" indent="-436370" lvl="1">
                <a:lnSpc>
                  <a:spcPts val="8084"/>
                </a:lnSpc>
                <a:buFont typeface="Arial"/>
                <a:buChar char="•"/>
              </a:pPr>
              <a:r>
                <a:rPr lang="en-US" sz="4042">
                  <a:solidFill>
                    <a:srgbClr val="252930"/>
                  </a:solidFill>
                  <a:latin typeface="Maven Pro"/>
                  <a:ea typeface="Maven Pro"/>
                  <a:cs typeface="Maven Pro"/>
                  <a:sym typeface="Maven Pro"/>
                </a:rPr>
                <a:t>Evaluating the model</a:t>
              </a:r>
            </a:p>
          </p:txBody>
        </p:sp>
        <p:sp>
          <p:nvSpPr>
            <p:cNvPr name="TextBox 7" id="7"/>
            <p:cNvSpPr txBox="true"/>
            <p:nvPr/>
          </p:nvSpPr>
          <p:spPr>
            <a:xfrm rot="0">
              <a:off x="147100" y="1244780"/>
              <a:ext cx="7866969" cy="1117859"/>
            </a:xfrm>
            <a:prstGeom prst="rect">
              <a:avLst/>
            </a:prstGeom>
          </p:spPr>
          <p:txBody>
            <a:bodyPr anchor="t" rtlCol="false" tIns="0" lIns="0" bIns="0" rIns="0">
              <a:spAutoFit/>
            </a:bodyPr>
            <a:lstStyle/>
            <a:p>
              <a:pPr algn="just" marL="872741" indent="-436370" lvl="1">
                <a:lnSpc>
                  <a:spcPts val="8084"/>
                </a:lnSpc>
                <a:buFont typeface="Arial"/>
                <a:buChar char="•"/>
              </a:pPr>
              <a:r>
                <a:rPr lang="en-US" sz="4042">
                  <a:solidFill>
                    <a:srgbClr val="252930"/>
                  </a:solidFill>
                  <a:latin typeface="Maven Pro"/>
                  <a:ea typeface="Maven Pro"/>
                  <a:cs typeface="Maven Pro"/>
                  <a:sym typeface="Maven Pro"/>
                </a:rPr>
                <a:t>Results</a:t>
              </a:r>
            </a:p>
          </p:txBody>
        </p:sp>
        <p:sp>
          <p:nvSpPr>
            <p:cNvPr name="TextBox 8" id="8"/>
            <p:cNvSpPr txBox="true"/>
            <p:nvPr/>
          </p:nvSpPr>
          <p:spPr>
            <a:xfrm rot="0">
              <a:off x="73550" y="2796122"/>
              <a:ext cx="7866969" cy="1117859"/>
            </a:xfrm>
            <a:prstGeom prst="rect">
              <a:avLst/>
            </a:prstGeom>
          </p:spPr>
          <p:txBody>
            <a:bodyPr anchor="t" rtlCol="false" tIns="0" lIns="0" bIns="0" rIns="0">
              <a:spAutoFit/>
            </a:bodyPr>
            <a:lstStyle/>
            <a:p>
              <a:pPr algn="just" marL="872741" indent="-436370" lvl="1">
                <a:lnSpc>
                  <a:spcPts val="8084"/>
                </a:lnSpc>
                <a:buFont typeface="Arial"/>
                <a:buChar char="•"/>
              </a:pPr>
              <a:r>
                <a:rPr lang="en-US" sz="4042">
                  <a:solidFill>
                    <a:srgbClr val="252930"/>
                  </a:solidFill>
                  <a:latin typeface="Maven Pro"/>
                  <a:ea typeface="Maven Pro"/>
                  <a:cs typeface="Maven Pro"/>
                  <a:sym typeface="Maven Pro"/>
                </a:rPr>
                <a:t>Conclusion</a:t>
              </a:r>
            </a:p>
          </p:txBody>
        </p:sp>
        <p:sp>
          <p:nvSpPr>
            <p:cNvPr name="TextBox 9" id="9"/>
            <p:cNvSpPr txBox="true"/>
            <p:nvPr/>
          </p:nvSpPr>
          <p:spPr>
            <a:xfrm rot="0">
              <a:off x="0" y="4347463"/>
              <a:ext cx="7866969" cy="1117859"/>
            </a:xfrm>
            <a:prstGeom prst="rect">
              <a:avLst/>
            </a:prstGeom>
          </p:spPr>
          <p:txBody>
            <a:bodyPr anchor="t" rtlCol="false" tIns="0" lIns="0" bIns="0" rIns="0">
              <a:spAutoFit/>
            </a:bodyPr>
            <a:lstStyle/>
            <a:p>
              <a:pPr algn="just" marL="872741" indent="-436370" lvl="1">
                <a:lnSpc>
                  <a:spcPts val="8084"/>
                </a:lnSpc>
                <a:buFont typeface="Arial"/>
                <a:buChar char="•"/>
              </a:pPr>
              <a:r>
                <a:rPr lang="en-US" sz="4042">
                  <a:solidFill>
                    <a:srgbClr val="252930"/>
                  </a:solidFill>
                  <a:latin typeface="Maven Pro"/>
                  <a:ea typeface="Maven Pro"/>
                  <a:cs typeface="Maven Pro"/>
                  <a:sym typeface="Maven Pro"/>
                </a:rPr>
                <a:t>Learnings</a:t>
              </a:r>
            </a:p>
          </p:txBody>
        </p:sp>
      </p:grpSp>
      <p:sp>
        <p:nvSpPr>
          <p:cNvPr name="TextBox 10" id="10"/>
          <p:cNvSpPr txBox="true"/>
          <p:nvPr/>
        </p:nvSpPr>
        <p:spPr>
          <a:xfrm rot="0">
            <a:off x="4995148" y="1860291"/>
            <a:ext cx="8297704" cy="837641"/>
          </a:xfrm>
          <a:prstGeom prst="rect">
            <a:avLst/>
          </a:prstGeom>
        </p:spPr>
        <p:txBody>
          <a:bodyPr anchor="t" rtlCol="false" tIns="0" lIns="0" bIns="0" rIns="0">
            <a:spAutoFit/>
          </a:bodyPr>
          <a:lstStyle/>
          <a:p>
            <a:pPr algn="ctr">
              <a:lnSpc>
                <a:spcPts val="5841"/>
              </a:lnSpc>
            </a:pPr>
            <a:r>
              <a:rPr lang="en-US" b="true" sz="7301" u="sng">
                <a:solidFill>
                  <a:srgbClr val="252D37"/>
                </a:solidFill>
                <a:latin typeface="Maven Pro Bold"/>
                <a:ea typeface="Maven Pro Bold"/>
                <a:cs typeface="Maven Pro Bold"/>
                <a:sym typeface="Maven Pro Bold"/>
              </a:rPr>
              <a:t>OVERVIEW</a:t>
            </a:r>
          </a:p>
        </p:txBody>
      </p:sp>
      <p:sp>
        <p:nvSpPr>
          <p:cNvPr name="Freeform 11" id="11"/>
          <p:cNvSpPr/>
          <p:nvPr/>
        </p:nvSpPr>
        <p:spPr>
          <a:xfrm flipH="true" flipV="false" rot="0">
            <a:off x="-211950" y="-104775"/>
            <a:ext cx="4114800" cy="4114800"/>
          </a:xfrm>
          <a:custGeom>
            <a:avLst/>
            <a:gdLst/>
            <a:ahLst/>
            <a:cxnLst/>
            <a:rect r="r" b="b" t="t" l="l"/>
            <a:pathLst>
              <a:path h="4114800" w="4114800">
                <a:moveTo>
                  <a:pt x="4114800" y="0"/>
                </a:moveTo>
                <a:lnTo>
                  <a:pt x="0" y="0"/>
                </a:lnTo>
                <a:lnTo>
                  <a:pt x="0" y="4114800"/>
                </a:lnTo>
                <a:lnTo>
                  <a:pt x="4114800" y="4114800"/>
                </a:lnTo>
                <a:lnTo>
                  <a:pt x="41148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7773650" y="8229600"/>
            <a:ext cx="516220" cy="2057400"/>
          </a:xfrm>
          <a:custGeom>
            <a:avLst/>
            <a:gdLst/>
            <a:ahLst/>
            <a:cxnLst/>
            <a:rect r="r" b="b" t="t" l="l"/>
            <a:pathLst>
              <a:path h="2057400" w="516220">
                <a:moveTo>
                  <a:pt x="0" y="0"/>
                </a:moveTo>
                <a:lnTo>
                  <a:pt x="516220" y="0"/>
                </a:lnTo>
                <a:lnTo>
                  <a:pt x="516220"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4542983" y="9077308"/>
            <a:ext cx="2716317" cy="1358159"/>
          </a:xfrm>
          <a:custGeom>
            <a:avLst/>
            <a:gdLst/>
            <a:ahLst/>
            <a:cxnLst/>
            <a:rect r="r" b="b" t="t" l="l"/>
            <a:pathLst>
              <a:path h="1358159" w="2716317">
                <a:moveTo>
                  <a:pt x="0" y="0"/>
                </a:moveTo>
                <a:lnTo>
                  <a:pt x="2716317" y="0"/>
                </a:lnTo>
                <a:lnTo>
                  <a:pt x="2716317" y="1358159"/>
                </a:lnTo>
                <a:lnTo>
                  <a:pt x="0" y="13581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4" id="14"/>
          <p:cNvGrpSpPr/>
          <p:nvPr/>
        </p:nvGrpSpPr>
        <p:grpSpPr>
          <a:xfrm rot="0">
            <a:off x="2843182" y="3910206"/>
            <a:ext cx="6065714" cy="4097671"/>
            <a:chOff x="0" y="0"/>
            <a:chExt cx="8087619" cy="5463562"/>
          </a:xfrm>
        </p:grpSpPr>
        <p:sp>
          <p:nvSpPr>
            <p:cNvPr name="TextBox 15" id="15"/>
            <p:cNvSpPr txBox="true"/>
            <p:nvPr/>
          </p:nvSpPr>
          <p:spPr>
            <a:xfrm rot="0">
              <a:off x="220650" y="-304800"/>
              <a:ext cx="7866969" cy="1116098"/>
            </a:xfrm>
            <a:prstGeom prst="rect">
              <a:avLst/>
            </a:prstGeom>
          </p:spPr>
          <p:txBody>
            <a:bodyPr anchor="t" rtlCol="false" tIns="0" lIns="0" bIns="0" rIns="0">
              <a:spAutoFit/>
            </a:bodyPr>
            <a:lstStyle/>
            <a:p>
              <a:pPr algn="just" marL="872740" indent="-436370" lvl="1">
                <a:lnSpc>
                  <a:spcPts val="8084"/>
                </a:lnSpc>
                <a:buFont typeface="Arial"/>
                <a:buChar char="•"/>
              </a:pPr>
              <a:r>
                <a:rPr lang="en-US" sz="4042">
                  <a:solidFill>
                    <a:srgbClr val="252930"/>
                  </a:solidFill>
                  <a:latin typeface="Maven Pro"/>
                  <a:ea typeface="Maven Pro"/>
                  <a:cs typeface="Maven Pro"/>
                  <a:sym typeface="Maven Pro"/>
                </a:rPr>
                <a:t>Problem Statement</a:t>
              </a:r>
            </a:p>
          </p:txBody>
        </p:sp>
        <p:sp>
          <p:nvSpPr>
            <p:cNvPr name="TextBox 16" id="16"/>
            <p:cNvSpPr txBox="true"/>
            <p:nvPr/>
          </p:nvSpPr>
          <p:spPr>
            <a:xfrm rot="0">
              <a:off x="147100" y="1244780"/>
              <a:ext cx="7866969" cy="1116098"/>
            </a:xfrm>
            <a:prstGeom prst="rect">
              <a:avLst/>
            </a:prstGeom>
          </p:spPr>
          <p:txBody>
            <a:bodyPr anchor="t" rtlCol="false" tIns="0" lIns="0" bIns="0" rIns="0">
              <a:spAutoFit/>
            </a:bodyPr>
            <a:lstStyle/>
            <a:p>
              <a:pPr algn="just" marL="872740" indent="-436370" lvl="1">
                <a:lnSpc>
                  <a:spcPts val="8084"/>
                </a:lnSpc>
                <a:buFont typeface="Arial"/>
                <a:buChar char="•"/>
              </a:pPr>
              <a:r>
                <a:rPr lang="en-US" sz="4042">
                  <a:solidFill>
                    <a:srgbClr val="252930"/>
                  </a:solidFill>
                  <a:latin typeface="Maven Pro"/>
                  <a:ea typeface="Maven Pro"/>
                  <a:cs typeface="Maven Pro"/>
                  <a:sym typeface="Maven Pro"/>
                </a:rPr>
                <a:t>Methodology</a:t>
              </a:r>
            </a:p>
          </p:txBody>
        </p:sp>
        <p:sp>
          <p:nvSpPr>
            <p:cNvPr name="TextBox 17" id="17"/>
            <p:cNvSpPr txBox="true"/>
            <p:nvPr/>
          </p:nvSpPr>
          <p:spPr>
            <a:xfrm rot="0">
              <a:off x="73550" y="2794361"/>
              <a:ext cx="7866969" cy="1117859"/>
            </a:xfrm>
            <a:prstGeom prst="rect">
              <a:avLst/>
            </a:prstGeom>
          </p:spPr>
          <p:txBody>
            <a:bodyPr anchor="t" rtlCol="false" tIns="0" lIns="0" bIns="0" rIns="0">
              <a:spAutoFit/>
            </a:bodyPr>
            <a:lstStyle/>
            <a:p>
              <a:pPr algn="just" marL="872741" indent="-436370" lvl="1">
                <a:lnSpc>
                  <a:spcPts val="8084"/>
                </a:lnSpc>
                <a:buFont typeface="Arial"/>
                <a:buChar char="•"/>
              </a:pPr>
              <a:r>
                <a:rPr lang="en-US" sz="4042">
                  <a:solidFill>
                    <a:srgbClr val="252930"/>
                  </a:solidFill>
                  <a:latin typeface="Maven Pro"/>
                  <a:ea typeface="Maven Pro"/>
                  <a:cs typeface="Maven Pro"/>
                  <a:sym typeface="Maven Pro"/>
                </a:rPr>
                <a:t>Building dataset</a:t>
              </a:r>
            </a:p>
          </p:txBody>
        </p:sp>
        <p:sp>
          <p:nvSpPr>
            <p:cNvPr name="TextBox 18" id="18"/>
            <p:cNvSpPr txBox="true"/>
            <p:nvPr/>
          </p:nvSpPr>
          <p:spPr>
            <a:xfrm rot="0">
              <a:off x="0" y="4345702"/>
              <a:ext cx="7866969" cy="1117859"/>
            </a:xfrm>
            <a:prstGeom prst="rect">
              <a:avLst/>
            </a:prstGeom>
          </p:spPr>
          <p:txBody>
            <a:bodyPr anchor="t" rtlCol="false" tIns="0" lIns="0" bIns="0" rIns="0">
              <a:spAutoFit/>
            </a:bodyPr>
            <a:lstStyle/>
            <a:p>
              <a:pPr algn="just" marL="872741" indent="-436370" lvl="1">
                <a:lnSpc>
                  <a:spcPts val="8084"/>
                </a:lnSpc>
                <a:buFont typeface="Arial"/>
                <a:buChar char="•"/>
              </a:pPr>
              <a:r>
                <a:rPr lang="en-US" sz="4042">
                  <a:solidFill>
                    <a:srgbClr val="252930"/>
                  </a:solidFill>
                  <a:latin typeface="Maven Pro"/>
                  <a:ea typeface="Maven Pro"/>
                  <a:cs typeface="Maven Pro"/>
                  <a:sym typeface="Maven Pro"/>
                </a:rPr>
                <a:t>Training the model</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3E6E0"/>
        </a:solidFill>
      </p:bgPr>
    </p:bg>
    <p:spTree>
      <p:nvGrpSpPr>
        <p:cNvPr id="1" name=""/>
        <p:cNvGrpSpPr/>
        <p:nvPr/>
      </p:nvGrpSpPr>
      <p:grpSpPr>
        <a:xfrm>
          <a:off x="0" y="0"/>
          <a:ext cx="0" cy="0"/>
          <a:chOff x="0" y="0"/>
          <a:chExt cx="0" cy="0"/>
        </a:xfrm>
      </p:grpSpPr>
      <p:sp>
        <p:nvSpPr>
          <p:cNvPr name="TextBox 2" id="2"/>
          <p:cNvSpPr txBox="true"/>
          <p:nvPr/>
        </p:nvSpPr>
        <p:spPr>
          <a:xfrm rot="0">
            <a:off x="2938445" y="1912981"/>
            <a:ext cx="12337980" cy="920751"/>
          </a:xfrm>
          <a:prstGeom prst="rect">
            <a:avLst/>
          </a:prstGeom>
        </p:spPr>
        <p:txBody>
          <a:bodyPr anchor="t" rtlCol="false" tIns="0" lIns="0" bIns="0" rIns="0">
            <a:spAutoFit/>
          </a:bodyPr>
          <a:lstStyle/>
          <a:p>
            <a:pPr algn="ctr">
              <a:lnSpc>
                <a:spcPts val="6400"/>
              </a:lnSpc>
            </a:pPr>
            <a:r>
              <a:rPr lang="en-US" b="true" sz="8000" u="sng">
                <a:solidFill>
                  <a:srgbClr val="252D37"/>
                </a:solidFill>
                <a:latin typeface="Maven Pro Bold"/>
                <a:ea typeface="Maven Pro Bold"/>
                <a:cs typeface="Maven Pro Bold"/>
                <a:sym typeface="Maven Pro Bold"/>
              </a:rPr>
              <a:t>PROBLEM STATEMENT</a:t>
            </a:r>
          </a:p>
        </p:txBody>
      </p:sp>
      <p:sp>
        <p:nvSpPr>
          <p:cNvPr name="Freeform 3" id="3"/>
          <p:cNvSpPr/>
          <p:nvPr/>
        </p:nvSpPr>
        <p:spPr>
          <a:xfrm flipH="false" flipV="false" rot="0">
            <a:off x="0" y="8229600"/>
            <a:ext cx="516220" cy="2057400"/>
          </a:xfrm>
          <a:custGeom>
            <a:avLst/>
            <a:gdLst/>
            <a:ahLst/>
            <a:cxnLst/>
            <a:rect r="r" b="b" t="t" l="l"/>
            <a:pathLst>
              <a:path h="2057400" w="516220">
                <a:moveTo>
                  <a:pt x="0" y="0"/>
                </a:moveTo>
                <a:lnTo>
                  <a:pt x="516220" y="0"/>
                </a:lnTo>
                <a:lnTo>
                  <a:pt x="516220" y="2057400"/>
                </a:lnTo>
                <a:lnTo>
                  <a:pt x="0" y="20574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9077308"/>
            <a:ext cx="2716317" cy="1358159"/>
          </a:xfrm>
          <a:custGeom>
            <a:avLst/>
            <a:gdLst/>
            <a:ahLst/>
            <a:cxnLst/>
            <a:rect r="r" b="b" t="t" l="l"/>
            <a:pathLst>
              <a:path h="1358159" w="2716317">
                <a:moveTo>
                  <a:pt x="0" y="0"/>
                </a:moveTo>
                <a:lnTo>
                  <a:pt x="2716317" y="0"/>
                </a:lnTo>
                <a:lnTo>
                  <a:pt x="2716317" y="1358159"/>
                </a:lnTo>
                <a:lnTo>
                  <a:pt x="0" y="13581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4354175" y="-123825"/>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2493168" y="3664216"/>
            <a:ext cx="5566512" cy="5332755"/>
          </a:xfrm>
          <a:custGeom>
            <a:avLst/>
            <a:gdLst/>
            <a:ahLst/>
            <a:cxnLst/>
            <a:rect r="r" b="b" t="t" l="l"/>
            <a:pathLst>
              <a:path h="5332755" w="5566512">
                <a:moveTo>
                  <a:pt x="0" y="0"/>
                </a:moveTo>
                <a:lnTo>
                  <a:pt x="5566512" y="0"/>
                </a:lnTo>
                <a:lnTo>
                  <a:pt x="5566512" y="5332755"/>
                </a:lnTo>
                <a:lnTo>
                  <a:pt x="0" y="5332755"/>
                </a:lnTo>
                <a:lnTo>
                  <a:pt x="0" y="0"/>
                </a:lnTo>
                <a:close/>
              </a:path>
            </a:pathLst>
          </a:custGeom>
          <a:blipFill>
            <a:blip r:embed="rId8"/>
            <a:stretch>
              <a:fillRect l="0" t="-665" r="0" b="-665"/>
            </a:stretch>
          </a:blipFill>
        </p:spPr>
      </p:sp>
      <p:sp>
        <p:nvSpPr>
          <p:cNvPr name="TextBox 7" id="7"/>
          <p:cNvSpPr txBox="true"/>
          <p:nvPr/>
        </p:nvSpPr>
        <p:spPr>
          <a:xfrm rot="0">
            <a:off x="-36566" y="4094761"/>
            <a:ext cx="12758054" cy="4347840"/>
          </a:xfrm>
          <a:prstGeom prst="rect">
            <a:avLst/>
          </a:prstGeom>
        </p:spPr>
        <p:txBody>
          <a:bodyPr anchor="t" rtlCol="false" tIns="0" lIns="0" bIns="0" rIns="0">
            <a:spAutoFit/>
          </a:bodyPr>
          <a:lstStyle/>
          <a:p>
            <a:pPr algn="ctr">
              <a:lnSpc>
                <a:spcPts val="8680"/>
              </a:lnSpc>
              <a:spcBef>
                <a:spcPct val="0"/>
              </a:spcBef>
            </a:pPr>
            <a:r>
              <a:rPr lang="en-US" sz="6200">
                <a:solidFill>
                  <a:srgbClr val="252D37"/>
                </a:solidFill>
                <a:latin typeface="Maven Pro"/>
                <a:ea typeface="Maven Pro"/>
                <a:cs typeface="Maven Pro"/>
                <a:sym typeface="Maven Pro"/>
              </a:rPr>
              <a:t>This project aims to develop a robust bullseye detection system using computer vision and deep learning</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3E6E0"/>
        </a:solidFill>
      </p:bgPr>
    </p:bg>
    <p:spTree>
      <p:nvGrpSpPr>
        <p:cNvPr id="1" name=""/>
        <p:cNvGrpSpPr/>
        <p:nvPr/>
      </p:nvGrpSpPr>
      <p:grpSpPr>
        <a:xfrm>
          <a:off x="0" y="0"/>
          <a:ext cx="0" cy="0"/>
          <a:chOff x="0" y="0"/>
          <a:chExt cx="0" cy="0"/>
        </a:xfrm>
      </p:grpSpPr>
      <p:sp>
        <p:nvSpPr>
          <p:cNvPr name="TextBox 2" id="2"/>
          <p:cNvSpPr txBox="true"/>
          <p:nvPr/>
        </p:nvSpPr>
        <p:spPr>
          <a:xfrm rot="0">
            <a:off x="2999625" y="2095429"/>
            <a:ext cx="12288749" cy="1047750"/>
          </a:xfrm>
          <a:prstGeom prst="rect">
            <a:avLst/>
          </a:prstGeom>
        </p:spPr>
        <p:txBody>
          <a:bodyPr anchor="t" rtlCol="false" tIns="0" lIns="0" bIns="0" rIns="0">
            <a:spAutoFit/>
          </a:bodyPr>
          <a:lstStyle/>
          <a:p>
            <a:pPr algn="ctr">
              <a:lnSpc>
                <a:spcPts val="7200"/>
              </a:lnSpc>
            </a:pPr>
            <a:r>
              <a:rPr lang="en-US" b="true" sz="9000">
                <a:solidFill>
                  <a:srgbClr val="252930"/>
                </a:solidFill>
                <a:latin typeface="Maven Pro Bold"/>
                <a:ea typeface="Maven Pro Bold"/>
                <a:cs typeface="Maven Pro Bold"/>
                <a:sym typeface="Maven Pro Bold"/>
              </a:rPr>
              <a:t>METHODOLOGY</a:t>
            </a:r>
          </a:p>
        </p:txBody>
      </p:sp>
      <p:sp>
        <p:nvSpPr>
          <p:cNvPr name="Freeform 3" id="3"/>
          <p:cNvSpPr/>
          <p:nvPr/>
        </p:nvSpPr>
        <p:spPr>
          <a:xfrm flipH="true" flipV="false" rot="0">
            <a:off x="-211950" y="-104775"/>
            <a:ext cx="4114800" cy="4114800"/>
          </a:xfrm>
          <a:custGeom>
            <a:avLst/>
            <a:gdLst/>
            <a:ahLst/>
            <a:cxnLst/>
            <a:rect r="r" b="b" t="t" l="l"/>
            <a:pathLst>
              <a:path h="4114800" w="4114800">
                <a:moveTo>
                  <a:pt x="4114800" y="0"/>
                </a:moveTo>
                <a:lnTo>
                  <a:pt x="0" y="0"/>
                </a:lnTo>
                <a:lnTo>
                  <a:pt x="0" y="4114800"/>
                </a:lnTo>
                <a:lnTo>
                  <a:pt x="4114800" y="4114800"/>
                </a:lnTo>
                <a:lnTo>
                  <a:pt x="41148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7773650" y="8229600"/>
            <a:ext cx="516220" cy="2057400"/>
          </a:xfrm>
          <a:custGeom>
            <a:avLst/>
            <a:gdLst/>
            <a:ahLst/>
            <a:cxnLst/>
            <a:rect r="r" b="b" t="t" l="l"/>
            <a:pathLst>
              <a:path h="2057400" w="516220">
                <a:moveTo>
                  <a:pt x="0" y="0"/>
                </a:moveTo>
                <a:lnTo>
                  <a:pt x="516220" y="0"/>
                </a:lnTo>
                <a:lnTo>
                  <a:pt x="516220"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4542983" y="9077308"/>
            <a:ext cx="2716317" cy="1358159"/>
          </a:xfrm>
          <a:custGeom>
            <a:avLst/>
            <a:gdLst/>
            <a:ahLst/>
            <a:cxnLst/>
            <a:rect r="r" b="b" t="t" l="l"/>
            <a:pathLst>
              <a:path h="1358159" w="2716317">
                <a:moveTo>
                  <a:pt x="0" y="0"/>
                </a:moveTo>
                <a:lnTo>
                  <a:pt x="2716317" y="0"/>
                </a:lnTo>
                <a:lnTo>
                  <a:pt x="2716317" y="1358159"/>
                </a:lnTo>
                <a:lnTo>
                  <a:pt x="0" y="13581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2659261" y="4459288"/>
            <a:ext cx="12271653" cy="3498850"/>
          </a:xfrm>
          <a:prstGeom prst="rect">
            <a:avLst/>
          </a:prstGeom>
        </p:spPr>
        <p:txBody>
          <a:bodyPr anchor="t" rtlCol="false" tIns="0" lIns="0" bIns="0" rIns="0">
            <a:spAutoFit/>
          </a:bodyPr>
          <a:lstStyle/>
          <a:p>
            <a:pPr algn="just">
              <a:lnSpc>
                <a:spcPts val="5599"/>
              </a:lnSpc>
            </a:pPr>
            <a:r>
              <a:rPr lang="en-US" sz="3999">
                <a:solidFill>
                  <a:srgbClr val="252930"/>
                </a:solidFill>
                <a:latin typeface="Maven Pro"/>
                <a:ea typeface="Maven Pro"/>
                <a:cs typeface="Maven Pro"/>
                <a:sym typeface="Maven Pro"/>
              </a:rPr>
              <a:t>a)Building a custom dataset</a:t>
            </a:r>
          </a:p>
          <a:p>
            <a:pPr algn="just">
              <a:lnSpc>
                <a:spcPts val="5599"/>
              </a:lnSpc>
            </a:pPr>
            <a:r>
              <a:rPr lang="en-US" sz="3999">
                <a:solidFill>
                  <a:srgbClr val="252930"/>
                </a:solidFill>
                <a:latin typeface="Maven Pro"/>
                <a:ea typeface="Maven Pro"/>
                <a:cs typeface="Maven Pro"/>
                <a:sym typeface="Maven Pro"/>
              </a:rPr>
              <a:t>b)Training the YOLO V8 model</a:t>
            </a:r>
          </a:p>
          <a:p>
            <a:pPr algn="just">
              <a:lnSpc>
                <a:spcPts val="5599"/>
              </a:lnSpc>
            </a:pPr>
            <a:r>
              <a:rPr lang="en-US" sz="3999">
                <a:solidFill>
                  <a:srgbClr val="252930"/>
                </a:solidFill>
                <a:latin typeface="Maven Pro"/>
                <a:ea typeface="Maven Pro"/>
                <a:cs typeface="Maven Pro"/>
                <a:sym typeface="Maven Pro"/>
              </a:rPr>
              <a:t>c)Evaluating the model on basis of IoU and maP</a:t>
            </a:r>
          </a:p>
          <a:p>
            <a:pPr algn="just">
              <a:lnSpc>
                <a:spcPts val="5599"/>
              </a:lnSpc>
              <a:spcBef>
                <a:spcPct val="0"/>
              </a:spcBef>
            </a:pPr>
            <a:r>
              <a:rPr lang="en-US" sz="3999">
                <a:solidFill>
                  <a:srgbClr val="252930"/>
                </a:solidFill>
                <a:latin typeface="Maven Pro"/>
                <a:ea typeface="Maven Pro"/>
                <a:cs typeface="Maven Pro"/>
                <a:sym typeface="Maven Pro"/>
              </a:rPr>
              <a:t>d)Conversion to optimized format(ONNX, tensorflow)</a:t>
            </a:r>
          </a:p>
          <a:p>
            <a:pPr algn="just">
              <a:lnSpc>
                <a:spcPts val="5599"/>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3E6E0"/>
        </a:solidFill>
      </p:bgPr>
    </p:bg>
    <p:spTree>
      <p:nvGrpSpPr>
        <p:cNvPr id="1" name=""/>
        <p:cNvGrpSpPr/>
        <p:nvPr/>
      </p:nvGrpSpPr>
      <p:grpSpPr>
        <a:xfrm>
          <a:off x="0" y="0"/>
          <a:ext cx="0" cy="0"/>
          <a:chOff x="0" y="0"/>
          <a:chExt cx="0" cy="0"/>
        </a:xfrm>
      </p:grpSpPr>
      <p:sp>
        <p:nvSpPr>
          <p:cNvPr name="TextBox 2" id="2"/>
          <p:cNvSpPr txBox="true"/>
          <p:nvPr/>
        </p:nvSpPr>
        <p:spPr>
          <a:xfrm rot="0">
            <a:off x="3987966" y="3543300"/>
            <a:ext cx="11206575" cy="1680845"/>
          </a:xfrm>
          <a:prstGeom prst="rect">
            <a:avLst/>
          </a:prstGeom>
        </p:spPr>
        <p:txBody>
          <a:bodyPr anchor="t" rtlCol="false" tIns="0" lIns="0" bIns="0" rIns="0">
            <a:spAutoFit/>
          </a:bodyPr>
          <a:lstStyle/>
          <a:p>
            <a:pPr algn="just" marL="690881" indent="-345440" lvl="1">
              <a:lnSpc>
                <a:spcPts val="4480"/>
              </a:lnSpc>
              <a:buFont typeface="Arial"/>
              <a:buChar char="•"/>
            </a:pPr>
            <a:r>
              <a:rPr lang="en-US" sz="3200">
                <a:solidFill>
                  <a:srgbClr val="252930"/>
                </a:solidFill>
                <a:latin typeface="Maven Pro"/>
                <a:ea typeface="Maven Pro"/>
                <a:cs typeface="Maven Pro"/>
                <a:sym typeface="Maven Pro"/>
              </a:rPr>
              <a:t>First, I decided to use the Custom dataset which I found in ROBOFLOW which gave me readymade dataset with annotations </a:t>
            </a:r>
          </a:p>
        </p:txBody>
      </p:sp>
      <p:sp>
        <p:nvSpPr>
          <p:cNvPr name="TextBox 3" id="3"/>
          <p:cNvSpPr txBox="true"/>
          <p:nvPr/>
        </p:nvSpPr>
        <p:spPr>
          <a:xfrm rot="0">
            <a:off x="3987966" y="5634529"/>
            <a:ext cx="11206575" cy="1680845"/>
          </a:xfrm>
          <a:prstGeom prst="rect">
            <a:avLst/>
          </a:prstGeom>
        </p:spPr>
        <p:txBody>
          <a:bodyPr anchor="t" rtlCol="false" tIns="0" lIns="0" bIns="0" rIns="0">
            <a:spAutoFit/>
          </a:bodyPr>
          <a:lstStyle/>
          <a:p>
            <a:pPr algn="just" marL="690881" indent="-345440" lvl="1">
              <a:lnSpc>
                <a:spcPts val="4480"/>
              </a:lnSpc>
              <a:buFont typeface="Arial"/>
              <a:buChar char="•"/>
            </a:pPr>
            <a:r>
              <a:rPr lang="en-US" sz="3200">
                <a:solidFill>
                  <a:srgbClr val="252930"/>
                </a:solidFill>
                <a:latin typeface="Maven Pro"/>
                <a:ea typeface="Maven Pro"/>
                <a:cs typeface="Maven Pro"/>
                <a:sym typeface="Maven Pro"/>
              </a:rPr>
              <a:t>After that, it was time to make my own dataset, I collected about 120 images and then annotated it using CVAT annotation tool  </a:t>
            </a:r>
          </a:p>
        </p:txBody>
      </p:sp>
      <p:sp>
        <p:nvSpPr>
          <p:cNvPr name="Freeform 4" id="4"/>
          <p:cNvSpPr/>
          <p:nvPr/>
        </p:nvSpPr>
        <p:spPr>
          <a:xfrm flipH="false" flipV="false" rot="0">
            <a:off x="0" y="8229600"/>
            <a:ext cx="516220" cy="2057400"/>
          </a:xfrm>
          <a:custGeom>
            <a:avLst/>
            <a:gdLst/>
            <a:ahLst/>
            <a:cxnLst/>
            <a:rect r="r" b="b" t="t" l="l"/>
            <a:pathLst>
              <a:path h="2057400" w="516220">
                <a:moveTo>
                  <a:pt x="0" y="0"/>
                </a:moveTo>
                <a:lnTo>
                  <a:pt x="516220" y="0"/>
                </a:lnTo>
                <a:lnTo>
                  <a:pt x="516220" y="2057400"/>
                </a:lnTo>
                <a:lnTo>
                  <a:pt x="0" y="20574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28700" y="9077308"/>
            <a:ext cx="2716317" cy="1358159"/>
          </a:xfrm>
          <a:custGeom>
            <a:avLst/>
            <a:gdLst/>
            <a:ahLst/>
            <a:cxnLst/>
            <a:rect r="r" b="b" t="t" l="l"/>
            <a:pathLst>
              <a:path h="1358159" w="2716317">
                <a:moveTo>
                  <a:pt x="0" y="0"/>
                </a:moveTo>
                <a:lnTo>
                  <a:pt x="2716317" y="0"/>
                </a:lnTo>
                <a:lnTo>
                  <a:pt x="2716317" y="1358159"/>
                </a:lnTo>
                <a:lnTo>
                  <a:pt x="0" y="13581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4354175" y="-123825"/>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3794958" y="866775"/>
            <a:ext cx="9723001" cy="1377949"/>
          </a:xfrm>
          <a:prstGeom prst="rect">
            <a:avLst/>
          </a:prstGeom>
        </p:spPr>
        <p:txBody>
          <a:bodyPr anchor="t" rtlCol="false" tIns="0" lIns="0" bIns="0" rIns="0">
            <a:spAutoFit/>
          </a:bodyPr>
          <a:lstStyle/>
          <a:p>
            <a:pPr algn="ctr">
              <a:lnSpc>
                <a:spcPts val="11200"/>
              </a:lnSpc>
              <a:spcBef>
                <a:spcPct val="0"/>
              </a:spcBef>
            </a:pPr>
            <a:r>
              <a:rPr lang="en-US" b="true" sz="8000">
                <a:solidFill>
                  <a:srgbClr val="252930"/>
                </a:solidFill>
                <a:latin typeface="Maven Pro Bold"/>
                <a:ea typeface="Maven Pro Bold"/>
                <a:cs typeface="Maven Pro Bold"/>
                <a:sym typeface="Maven Pro Bold"/>
              </a:rPr>
              <a:t>BUILDING DATASET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3E6E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15584422" cy="8390872"/>
          </a:xfrm>
          <a:custGeom>
            <a:avLst/>
            <a:gdLst/>
            <a:ahLst/>
            <a:cxnLst/>
            <a:rect r="r" b="b" t="t" l="l"/>
            <a:pathLst>
              <a:path h="8390872" w="15584422">
                <a:moveTo>
                  <a:pt x="0" y="0"/>
                </a:moveTo>
                <a:lnTo>
                  <a:pt x="15584422" y="0"/>
                </a:lnTo>
                <a:lnTo>
                  <a:pt x="15584422" y="8390872"/>
                </a:lnTo>
                <a:lnTo>
                  <a:pt x="0" y="8390872"/>
                </a:lnTo>
                <a:lnTo>
                  <a:pt x="0" y="0"/>
                </a:lnTo>
                <a:close/>
              </a:path>
            </a:pathLst>
          </a:custGeom>
          <a:blipFill>
            <a:blip r:embed="rId2"/>
            <a:stretch>
              <a:fillRect l="0" t="-1394" r="0" b="-4936"/>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3E6E0"/>
        </a:solidFill>
      </p:bgPr>
    </p:bg>
    <p:spTree>
      <p:nvGrpSpPr>
        <p:cNvPr id="1" name=""/>
        <p:cNvGrpSpPr/>
        <p:nvPr/>
      </p:nvGrpSpPr>
      <p:grpSpPr>
        <a:xfrm>
          <a:off x="0" y="0"/>
          <a:ext cx="0" cy="0"/>
          <a:chOff x="0" y="0"/>
          <a:chExt cx="0" cy="0"/>
        </a:xfrm>
      </p:grpSpPr>
      <p:sp>
        <p:nvSpPr>
          <p:cNvPr name="Freeform 2" id="2"/>
          <p:cNvSpPr/>
          <p:nvPr/>
        </p:nvSpPr>
        <p:spPr>
          <a:xfrm flipH="true" flipV="false" rot="0">
            <a:off x="-211950" y="-104775"/>
            <a:ext cx="4114800" cy="4114800"/>
          </a:xfrm>
          <a:custGeom>
            <a:avLst/>
            <a:gdLst/>
            <a:ahLst/>
            <a:cxnLst/>
            <a:rect r="r" b="b" t="t" l="l"/>
            <a:pathLst>
              <a:path h="4114800" w="4114800">
                <a:moveTo>
                  <a:pt x="4114800" y="0"/>
                </a:moveTo>
                <a:lnTo>
                  <a:pt x="0" y="0"/>
                </a:lnTo>
                <a:lnTo>
                  <a:pt x="0" y="4114800"/>
                </a:lnTo>
                <a:lnTo>
                  <a:pt x="4114800" y="4114800"/>
                </a:lnTo>
                <a:lnTo>
                  <a:pt x="41148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773650" y="8229600"/>
            <a:ext cx="516220" cy="2057400"/>
          </a:xfrm>
          <a:custGeom>
            <a:avLst/>
            <a:gdLst/>
            <a:ahLst/>
            <a:cxnLst/>
            <a:rect r="r" b="b" t="t" l="l"/>
            <a:pathLst>
              <a:path h="2057400" w="516220">
                <a:moveTo>
                  <a:pt x="0" y="0"/>
                </a:moveTo>
                <a:lnTo>
                  <a:pt x="516220" y="0"/>
                </a:lnTo>
                <a:lnTo>
                  <a:pt x="516220"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542983" y="9077308"/>
            <a:ext cx="2716317" cy="1358159"/>
          </a:xfrm>
          <a:custGeom>
            <a:avLst/>
            <a:gdLst/>
            <a:ahLst/>
            <a:cxnLst/>
            <a:rect r="r" b="b" t="t" l="l"/>
            <a:pathLst>
              <a:path h="1358159" w="2716317">
                <a:moveTo>
                  <a:pt x="0" y="0"/>
                </a:moveTo>
                <a:lnTo>
                  <a:pt x="2716317" y="0"/>
                </a:lnTo>
                <a:lnTo>
                  <a:pt x="2716317" y="1358159"/>
                </a:lnTo>
                <a:lnTo>
                  <a:pt x="0" y="13581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3498780" y="1365251"/>
            <a:ext cx="10802898" cy="1377949"/>
          </a:xfrm>
          <a:prstGeom prst="rect">
            <a:avLst/>
          </a:prstGeom>
        </p:spPr>
        <p:txBody>
          <a:bodyPr anchor="t" rtlCol="false" tIns="0" lIns="0" bIns="0" rIns="0">
            <a:spAutoFit/>
          </a:bodyPr>
          <a:lstStyle/>
          <a:p>
            <a:pPr algn="ctr">
              <a:lnSpc>
                <a:spcPts val="11200"/>
              </a:lnSpc>
              <a:spcBef>
                <a:spcPct val="0"/>
              </a:spcBef>
            </a:pPr>
            <a:r>
              <a:rPr lang="en-US" b="true" sz="8000">
                <a:solidFill>
                  <a:srgbClr val="252D37"/>
                </a:solidFill>
                <a:latin typeface="Maven Pro Bold"/>
                <a:ea typeface="Maven Pro Bold"/>
                <a:cs typeface="Maven Pro Bold"/>
                <a:sym typeface="Maven Pro Bold"/>
              </a:rPr>
              <a:t>TRAINING THE MODEL</a:t>
            </a:r>
          </a:p>
        </p:txBody>
      </p:sp>
      <p:sp>
        <p:nvSpPr>
          <p:cNvPr name="TextBox 6" id="6"/>
          <p:cNvSpPr txBox="true"/>
          <p:nvPr/>
        </p:nvSpPr>
        <p:spPr>
          <a:xfrm rot="0">
            <a:off x="1201922" y="3047460"/>
            <a:ext cx="15655274" cy="6009149"/>
          </a:xfrm>
          <a:prstGeom prst="rect">
            <a:avLst/>
          </a:prstGeom>
        </p:spPr>
        <p:txBody>
          <a:bodyPr anchor="t" rtlCol="false" tIns="0" lIns="0" bIns="0" rIns="0">
            <a:spAutoFit/>
          </a:bodyPr>
          <a:lstStyle/>
          <a:p>
            <a:pPr algn="just">
              <a:lnSpc>
                <a:spcPts val="8084"/>
              </a:lnSpc>
            </a:pPr>
            <a:r>
              <a:rPr lang="en-US" sz="4042">
                <a:solidFill>
                  <a:srgbClr val="252D37"/>
                </a:solidFill>
                <a:latin typeface="Maven Pro"/>
                <a:ea typeface="Maven Pro"/>
                <a:cs typeface="Maven Pro"/>
                <a:sym typeface="Maven Pro"/>
              </a:rPr>
              <a:t>After building the dataset, it was time to train the model. I decided to use the YOLOv8 architecture for this task. I decided to train two separate models:</a:t>
            </a:r>
          </a:p>
          <a:p>
            <a:pPr algn="just">
              <a:lnSpc>
                <a:spcPts val="8084"/>
              </a:lnSpc>
            </a:pPr>
            <a:r>
              <a:rPr lang="en-US" sz="4042">
                <a:solidFill>
                  <a:srgbClr val="252D37"/>
                </a:solidFill>
                <a:latin typeface="Maven Pro"/>
                <a:ea typeface="Maven Pro"/>
                <a:cs typeface="Maven Pro"/>
                <a:sym typeface="Maven Pro"/>
              </a:rPr>
              <a:t> a) One model trained on the Roboflow dataset</a:t>
            </a:r>
          </a:p>
          <a:p>
            <a:pPr algn="just">
              <a:lnSpc>
                <a:spcPts val="8084"/>
              </a:lnSpc>
            </a:pPr>
            <a:r>
              <a:rPr lang="en-US" sz="4042">
                <a:solidFill>
                  <a:srgbClr val="252D37"/>
                </a:solidFill>
                <a:latin typeface="Maven Pro"/>
                <a:ea typeface="Maven Pro"/>
                <a:cs typeface="Maven Pro"/>
                <a:sym typeface="Maven Pro"/>
              </a:rPr>
              <a:t> b) Another model trained on the custom dataset I created</a:t>
            </a:r>
          </a:p>
          <a:p>
            <a:pPr algn="just">
              <a:lnSpc>
                <a:spcPts val="8084"/>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3E6E0"/>
        </a:solidFill>
      </p:bgPr>
    </p:bg>
    <p:spTree>
      <p:nvGrpSpPr>
        <p:cNvPr id="1" name=""/>
        <p:cNvGrpSpPr/>
        <p:nvPr/>
      </p:nvGrpSpPr>
      <p:grpSpPr>
        <a:xfrm>
          <a:off x="0" y="0"/>
          <a:ext cx="0" cy="0"/>
          <a:chOff x="0" y="0"/>
          <a:chExt cx="0" cy="0"/>
        </a:xfrm>
      </p:grpSpPr>
      <p:sp>
        <p:nvSpPr>
          <p:cNvPr name="Freeform 2" id="2"/>
          <p:cNvSpPr/>
          <p:nvPr/>
        </p:nvSpPr>
        <p:spPr>
          <a:xfrm flipH="false" flipV="false" rot="0">
            <a:off x="0" y="8229600"/>
            <a:ext cx="516220" cy="2057400"/>
          </a:xfrm>
          <a:custGeom>
            <a:avLst/>
            <a:gdLst/>
            <a:ahLst/>
            <a:cxnLst/>
            <a:rect r="r" b="b" t="t" l="l"/>
            <a:pathLst>
              <a:path h="2057400" w="516220">
                <a:moveTo>
                  <a:pt x="0" y="0"/>
                </a:moveTo>
                <a:lnTo>
                  <a:pt x="516220" y="0"/>
                </a:lnTo>
                <a:lnTo>
                  <a:pt x="516220" y="2057400"/>
                </a:lnTo>
                <a:lnTo>
                  <a:pt x="0" y="20574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9077308"/>
            <a:ext cx="2716317" cy="1358159"/>
          </a:xfrm>
          <a:custGeom>
            <a:avLst/>
            <a:gdLst/>
            <a:ahLst/>
            <a:cxnLst/>
            <a:rect r="r" b="b" t="t" l="l"/>
            <a:pathLst>
              <a:path h="1358159" w="2716317">
                <a:moveTo>
                  <a:pt x="0" y="0"/>
                </a:moveTo>
                <a:lnTo>
                  <a:pt x="2716317" y="0"/>
                </a:lnTo>
                <a:lnTo>
                  <a:pt x="2716317" y="1358159"/>
                </a:lnTo>
                <a:lnTo>
                  <a:pt x="0" y="13581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354175" y="-123825"/>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759204" y="3534615"/>
            <a:ext cx="16500096" cy="3556488"/>
          </a:xfrm>
          <a:custGeom>
            <a:avLst/>
            <a:gdLst/>
            <a:ahLst/>
            <a:cxnLst/>
            <a:rect r="r" b="b" t="t" l="l"/>
            <a:pathLst>
              <a:path h="3556488" w="16500096">
                <a:moveTo>
                  <a:pt x="0" y="0"/>
                </a:moveTo>
                <a:lnTo>
                  <a:pt x="16500096" y="0"/>
                </a:lnTo>
                <a:lnTo>
                  <a:pt x="16500096" y="3556488"/>
                </a:lnTo>
                <a:lnTo>
                  <a:pt x="0" y="3556488"/>
                </a:lnTo>
                <a:lnTo>
                  <a:pt x="0" y="0"/>
                </a:lnTo>
                <a:close/>
              </a:path>
            </a:pathLst>
          </a:custGeom>
          <a:blipFill>
            <a:blip r:embed="rId8"/>
            <a:stretch>
              <a:fillRect l="0" t="0" r="0" b="-1487"/>
            </a:stretch>
          </a:blipFill>
        </p:spPr>
      </p:sp>
      <p:sp>
        <p:nvSpPr>
          <p:cNvPr name="TextBox 6" id="6"/>
          <p:cNvSpPr txBox="true"/>
          <p:nvPr/>
        </p:nvSpPr>
        <p:spPr>
          <a:xfrm rot="0">
            <a:off x="3745017" y="1619989"/>
            <a:ext cx="10441907" cy="922447"/>
          </a:xfrm>
          <a:prstGeom prst="rect">
            <a:avLst/>
          </a:prstGeom>
        </p:spPr>
        <p:txBody>
          <a:bodyPr anchor="t" rtlCol="false" tIns="0" lIns="0" bIns="0" rIns="0">
            <a:spAutoFit/>
          </a:bodyPr>
          <a:lstStyle/>
          <a:p>
            <a:pPr algn="ctr">
              <a:lnSpc>
                <a:spcPts val="6426"/>
              </a:lnSpc>
            </a:pPr>
            <a:r>
              <a:rPr lang="en-US" b="true" sz="8033">
                <a:solidFill>
                  <a:srgbClr val="252930"/>
                </a:solidFill>
                <a:latin typeface="Maven Pro Bold"/>
                <a:ea typeface="Maven Pro Bold"/>
                <a:cs typeface="Maven Pro Bold"/>
                <a:sym typeface="Maven Pro Bold"/>
              </a:rPr>
              <a:t>SOME CODE SNIPPET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3E6E0"/>
        </a:solidFill>
      </p:bgPr>
    </p:bg>
    <p:spTree>
      <p:nvGrpSpPr>
        <p:cNvPr id="1" name=""/>
        <p:cNvGrpSpPr/>
        <p:nvPr/>
      </p:nvGrpSpPr>
      <p:grpSpPr>
        <a:xfrm>
          <a:off x="0" y="0"/>
          <a:ext cx="0" cy="0"/>
          <a:chOff x="0" y="0"/>
          <a:chExt cx="0" cy="0"/>
        </a:xfrm>
      </p:grpSpPr>
      <p:sp>
        <p:nvSpPr>
          <p:cNvPr name="Freeform 2" id="2"/>
          <p:cNvSpPr/>
          <p:nvPr/>
        </p:nvSpPr>
        <p:spPr>
          <a:xfrm flipH="false" flipV="false" rot="0">
            <a:off x="203479" y="3265991"/>
            <a:ext cx="17775045" cy="3732759"/>
          </a:xfrm>
          <a:custGeom>
            <a:avLst/>
            <a:gdLst/>
            <a:ahLst/>
            <a:cxnLst/>
            <a:rect r="r" b="b" t="t" l="l"/>
            <a:pathLst>
              <a:path h="3732759" w="17775045">
                <a:moveTo>
                  <a:pt x="0" y="0"/>
                </a:moveTo>
                <a:lnTo>
                  <a:pt x="17775045" y="0"/>
                </a:lnTo>
                <a:lnTo>
                  <a:pt x="17775045" y="3732759"/>
                </a:lnTo>
                <a:lnTo>
                  <a:pt x="0" y="3732759"/>
                </a:lnTo>
                <a:lnTo>
                  <a:pt x="0" y="0"/>
                </a:lnTo>
                <a:close/>
              </a:path>
            </a:pathLst>
          </a:custGeom>
          <a:blipFill>
            <a:blip r:embed="rId2"/>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3E6E0"/>
        </a:solidFill>
      </p:bgPr>
    </p:bg>
    <p:spTree>
      <p:nvGrpSpPr>
        <p:cNvPr id="1" name=""/>
        <p:cNvGrpSpPr/>
        <p:nvPr/>
      </p:nvGrpSpPr>
      <p:grpSpPr>
        <a:xfrm>
          <a:off x="0" y="0"/>
          <a:ext cx="0" cy="0"/>
          <a:chOff x="0" y="0"/>
          <a:chExt cx="0" cy="0"/>
        </a:xfrm>
      </p:grpSpPr>
      <p:sp>
        <p:nvSpPr>
          <p:cNvPr name="Freeform 2" id="2"/>
          <p:cNvSpPr/>
          <p:nvPr/>
        </p:nvSpPr>
        <p:spPr>
          <a:xfrm flipH="false" flipV="false" rot="0">
            <a:off x="3866882" y="2595303"/>
            <a:ext cx="10554236" cy="5096395"/>
          </a:xfrm>
          <a:custGeom>
            <a:avLst/>
            <a:gdLst/>
            <a:ahLst/>
            <a:cxnLst/>
            <a:rect r="r" b="b" t="t" l="l"/>
            <a:pathLst>
              <a:path h="5096395" w="10554236">
                <a:moveTo>
                  <a:pt x="0" y="0"/>
                </a:moveTo>
                <a:lnTo>
                  <a:pt x="10554236" y="0"/>
                </a:lnTo>
                <a:lnTo>
                  <a:pt x="10554236" y="5096394"/>
                </a:lnTo>
                <a:lnTo>
                  <a:pt x="0" y="5096394"/>
                </a:lnTo>
                <a:lnTo>
                  <a:pt x="0" y="0"/>
                </a:lnTo>
                <a:close/>
              </a:path>
            </a:pathLst>
          </a:custGeom>
          <a:blipFill>
            <a:blip r:embed="rId2"/>
            <a:stretch>
              <a:fillRect l="0" t="0" r="0" b="0"/>
            </a:stretch>
          </a:blipFill>
        </p:spPr>
      </p:sp>
      <p:sp>
        <p:nvSpPr>
          <p:cNvPr name="TextBox 3" id="3"/>
          <p:cNvSpPr txBox="true"/>
          <p:nvPr/>
        </p:nvSpPr>
        <p:spPr>
          <a:xfrm rot="0">
            <a:off x="5607648" y="580261"/>
            <a:ext cx="6438900" cy="1229356"/>
          </a:xfrm>
          <a:prstGeom prst="rect">
            <a:avLst/>
          </a:prstGeom>
        </p:spPr>
        <p:txBody>
          <a:bodyPr anchor="t" rtlCol="false" tIns="0" lIns="0" bIns="0" rIns="0">
            <a:spAutoFit/>
          </a:bodyPr>
          <a:lstStyle/>
          <a:p>
            <a:pPr algn="ctr">
              <a:lnSpc>
                <a:spcPts val="9940"/>
              </a:lnSpc>
              <a:spcBef>
                <a:spcPct val="0"/>
              </a:spcBef>
            </a:pPr>
            <a:r>
              <a:rPr lang="en-US" b="true" sz="7100">
                <a:solidFill>
                  <a:srgbClr val="000000"/>
                </a:solidFill>
                <a:latin typeface="Maven Pro Bold"/>
                <a:ea typeface="Maven Pro Bold"/>
                <a:cs typeface="Maven Pro Bold"/>
                <a:sym typeface="Maven Pro Bold"/>
              </a:rPr>
              <a:t>THE YAML FILE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3E6E0"/>
        </a:solidFill>
      </p:bgPr>
    </p:bg>
    <p:spTree>
      <p:nvGrpSpPr>
        <p:cNvPr id="1" name=""/>
        <p:cNvGrpSpPr/>
        <p:nvPr/>
      </p:nvGrpSpPr>
      <p:grpSpPr>
        <a:xfrm>
          <a:off x="0" y="0"/>
          <a:ext cx="0" cy="0"/>
          <a:chOff x="0" y="0"/>
          <a:chExt cx="0" cy="0"/>
        </a:xfrm>
      </p:grpSpPr>
      <p:sp>
        <p:nvSpPr>
          <p:cNvPr name="Freeform 2" id="2"/>
          <p:cNvSpPr/>
          <p:nvPr/>
        </p:nvSpPr>
        <p:spPr>
          <a:xfrm flipH="true" flipV="false" rot="0">
            <a:off x="-211950" y="-104775"/>
            <a:ext cx="4114800" cy="4114800"/>
          </a:xfrm>
          <a:custGeom>
            <a:avLst/>
            <a:gdLst/>
            <a:ahLst/>
            <a:cxnLst/>
            <a:rect r="r" b="b" t="t" l="l"/>
            <a:pathLst>
              <a:path h="4114800" w="4114800">
                <a:moveTo>
                  <a:pt x="4114800" y="0"/>
                </a:moveTo>
                <a:lnTo>
                  <a:pt x="0" y="0"/>
                </a:lnTo>
                <a:lnTo>
                  <a:pt x="0" y="4114800"/>
                </a:lnTo>
                <a:lnTo>
                  <a:pt x="4114800" y="4114800"/>
                </a:lnTo>
                <a:lnTo>
                  <a:pt x="41148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773650" y="8229600"/>
            <a:ext cx="516220" cy="2057400"/>
          </a:xfrm>
          <a:custGeom>
            <a:avLst/>
            <a:gdLst/>
            <a:ahLst/>
            <a:cxnLst/>
            <a:rect r="r" b="b" t="t" l="l"/>
            <a:pathLst>
              <a:path h="2057400" w="516220">
                <a:moveTo>
                  <a:pt x="0" y="0"/>
                </a:moveTo>
                <a:lnTo>
                  <a:pt x="516220" y="0"/>
                </a:lnTo>
                <a:lnTo>
                  <a:pt x="516220"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5972490" y="9000190"/>
            <a:ext cx="516220" cy="2057400"/>
          </a:xfrm>
          <a:custGeom>
            <a:avLst/>
            <a:gdLst/>
            <a:ahLst/>
            <a:cxnLst/>
            <a:rect r="r" b="b" t="t" l="l"/>
            <a:pathLst>
              <a:path h="2057400" w="516220">
                <a:moveTo>
                  <a:pt x="0" y="0"/>
                </a:moveTo>
                <a:lnTo>
                  <a:pt x="516220" y="0"/>
                </a:lnTo>
                <a:lnTo>
                  <a:pt x="516220"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3222031" y="866775"/>
            <a:ext cx="12282726" cy="1377102"/>
          </a:xfrm>
          <a:prstGeom prst="rect">
            <a:avLst/>
          </a:prstGeom>
        </p:spPr>
        <p:txBody>
          <a:bodyPr anchor="t" rtlCol="false" tIns="0" lIns="0" bIns="0" rIns="0">
            <a:spAutoFit/>
          </a:bodyPr>
          <a:lstStyle/>
          <a:p>
            <a:pPr algn="ctr">
              <a:lnSpc>
                <a:spcPts val="11246"/>
              </a:lnSpc>
              <a:spcBef>
                <a:spcPct val="0"/>
              </a:spcBef>
            </a:pPr>
            <a:r>
              <a:rPr lang="en-US" b="true" sz="8033">
                <a:solidFill>
                  <a:srgbClr val="000000"/>
                </a:solidFill>
                <a:latin typeface="Maven Pro Bold"/>
                <a:ea typeface="Maven Pro Bold"/>
                <a:cs typeface="Maven Pro Bold"/>
                <a:sym typeface="Maven Pro Bold"/>
              </a:rPr>
              <a:t>EVALUATING THE MODEL</a:t>
            </a:r>
          </a:p>
        </p:txBody>
      </p:sp>
      <p:sp>
        <p:nvSpPr>
          <p:cNvPr name="TextBox 6" id="6"/>
          <p:cNvSpPr txBox="true"/>
          <p:nvPr/>
        </p:nvSpPr>
        <p:spPr>
          <a:xfrm rot="0">
            <a:off x="2372555" y="3606355"/>
            <a:ext cx="13542891" cy="4267200"/>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252930"/>
                </a:solidFill>
                <a:latin typeface="Maven Pro"/>
                <a:ea typeface="Maven Pro"/>
                <a:cs typeface="Maven Pro"/>
                <a:sym typeface="Maven Pro"/>
              </a:rPr>
              <a:t>After training the model , it was time to evaluate the model . For evaluating the model we use two different metrics:- </a:t>
            </a:r>
          </a:p>
          <a:p>
            <a:pPr algn="just">
              <a:lnSpc>
                <a:spcPts val="4200"/>
              </a:lnSpc>
            </a:pPr>
            <a:r>
              <a:rPr lang="en-US" sz="3000">
                <a:solidFill>
                  <a:srgbClr val="252930"/>
                </a:solidFill>
                <a:latin typeface="Maven Pro"/>
                <a:ea typeface="Maven Pro"/>
                <a:cs typeface="Maven Pro"/>
                <a:sym typeface="Maven Pro"/>
              </a:rPr>
              <a:t>      a)mAP@0.5</a:t>
            </a:r>
          </a:p>
          <a:p>
            <a:pPr algn="just">
              <a:lnSpc>
                <a:spcPts val="4200"/>
              </a:lnSpc>
            </a:pPr>
            <a:r>
              <a:rPr lang="en-US" sz="3000">
                <a:solidFill>
                  <a:srgbClr val="252930"/>
                </a:solidFill>
                <a:latin typeface="Maven Pro"/>
                <a:ea typeface="Maven Pro"/>
                <a:cs typeface="Maven Pro"/>
                <a:sym typeface="Maven Pro"/>
              </a:rPr>
              <a:t>      b)</a:t>
            </a:r>
            <a:r>
              <a:rPr lang="en-US" sz="3000">
                <a:solidFill>
                  <a:srgbClr val="252930"/>
                </a:solidFill>
                <a:latin typeface="Maven Pro"/>
                <a:ea typeface="Maven Pro"/>
                <a:cs typeface="Maven Pro"/>
                <a:sym typeface="Maven Pro"/>
              </a:rPr>
              <a:t>mAP@0.5:0.95</a:t>
            </a:r>
          </a:p>
          <a:p>
            <a:pPr algn="just" marL="647700" indent="-323850" lvl="1">
              <a:lnSpc>
                <a:spcPts val="4200"/>
              </a:lnSpc>
              <a:buFont typeface="Arial"/>
              <a:buChar char="•"/>
            </a:pPr>
            <a:r>
              <a:rPr lang="en-US" sz="3000">
                <a:solidFill>
                  <a:srgbClr val="252930"/>
                </a:solidFill>
                <a:latin typeface="Maven Pro"/>
                <a:ea typeface="Maven Pro"/>
                <a:cs typeface="Maven Pro"/>
                <a:sym typeface="Maven Pro"/>
              </a:rPr>
              <a:t>Again, we will do it for both the roboflow dataset and custom dataset </a:t>
            </a:r>
          </a:p>
          <a:p>
            <a:pPr algn="just" marL="647700" indent="-323850" lvl="1">
              <a:lnSpc>
                <a:spcPts val="4200"/>
              </a:lnSpc>
              <a:buFont typeface="Arial"/>
              <a:buChar char="•"/>
            </a:pPr>
            <a:r>
              <a:rPr lang="en-US" sz="3000">
                <a:solidFill>
                  <a:srgbClr val="252930"/>
                </a:solidFill>
                <a:latin typeface="Maven Pro"/>
                <a:ea typeface="Maven Pro"/>
                <a:cs typeface="Maven Pro"/>
                <a:sym typeface="Maven Pro"/>
              </a:rPr>
              <a:t>mAP@0.5 calculates the mean Average Precision at IoU 0.5</a:t>
            </a:r>
          </a:p>
          <a:p>
            <a:pPr algn="just" marL="647700" indent="-323850" lvl="1">
              <a:lnSpc>
                <a:spcPts val="4200"/>
              </a:lnSpc>
              <a:buFont typeface="Arial"/>
              <a:buChar char="•"/>
            </a:pPr>
            <a:r>
              <a:rPr lang="en-US" sz="3000">
                <a:solidFill>
                  <a:srgbClr val="252930"/>
                </a:solidFill>
                <a:latin typeface="Maven Pro"/>
                <a:ea typeface="Maven Pro"/>
                <a:cs typeface="Maven Pro"/>
                <a:sym typeface="Maven Pro"/>
              </a:rPr>
              <a:t>Meanwhile,mAP@0.5:0.95 mean AP averaged over IoU from 0.5 to 0.95</a:t>
            </a:r>
          </a:p>
          <a:p>
            <a:pPr algn="just">
              <a:lnSpc>
                <a:spcPts val="4200"/>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3E6E0"/>
        </a:solidFill>
      </p:bgPr>
    </p:bg>
    <p:spTree>
      <p:nvGrpSpPr>
        <p:cNvPr id="1" name=""/>
        <p:cNvGrpSpPr/>
        <p:nvPr/>
      </p:nvGrpSpPr>
      <p:grpSpPr>
        <a:xfrm>
          <a:off x="0" y="0"/>
          <a:ext cx="0" cy="0"/>
          <a:chOff x="0" y="0"/>
          <a:chExt cx="0" cy="0"/>
        </a:xfrm>
      </p:grpSpPr>
      <p:sp>
        <p:nvSpPr>
          <p:cNvPr name="Freeform 2" id="2"/>
          <p:cNvSpPr/>
          <p:nvPr/>
        </p:nvSpPr>
        <p:spPr>
          <a:xfrm flipH="false" flipV="false" rot="0">
            <a:off x="764605" y="4047911"/>
            <a:ext cx="17064097" cy="2687595"/>
          </a:xfrm>
          <a:custGeom>
            <a:avLst/>
            <a:gdLst/>
            <a:ahLst/>
            <a:cxnLst/>
            <a:rect r="r" b="b" t="t" l="l"/>
            <a:pathLst>
              <a:path h="2687595" w="17064097">
                <a:moveTo>
                  <a:pt x="0" y="0"/>
                </a:moveTo>
                <a:lnTo>
                  <a:pt x="17064097" y="0"/>
                </a:lnTo>
                <a:lnTo>
                  <a:pt x="17064097" y="2687595"/>
                </a:lnTo>
                <a:lnTo>
                  <a:pt x="0" y="2687595"/>
                </a:lnTo>
                <a:lnTo>
                  <a:pt x="0" y="0"/>
                </a:lnTo>
                <a:close/>
              </a:path>
            </a:pathLst>
          </a:custGeom>
          <a:blipFill>
            <a:blip r:embed="rId2"/>
            <a:stretch>
              <a:fillRect l="0" t="0" r="0" b="0"/>
            </a:stretch>
          </a:blipFill>
        </p:spPr>
      </p:sp>
      <p:sp>
        <p:nvSpPr>
          <p:cNvPr name="TextBox 3" id="3"/>
          <p:cNvSpPr txBox="true"/>
          <p:nvPr/>
        </p:nvSpPr>
        <p:spPr>
          <a:xfrm rot="0">
            <a:off x="5400809" y="1351227"/>
            <a:ext cx="7791688" cy="1377102"/>
          </a:xfrm>
          <a:prstGeom prst="rect">
            <a:avLst/>
          </a:prstGeom>
        </p:spPr>
        <p:txBody>
          <a:bodyPr anchor="t" rtlCol="false" tIns="0" lIns="0" bIns="0" rIns="0">
            <a:spAutoFit/>
          </a:bodyPr>
          <a:lstStyle/>
          <a:p>
            <a:pPr algn="ctr">
              <a:lnSpc>
                <a:spcPts val="11246"/>
              </a:lnSpc>
              <a:spcBef>
                <a:spcPct val="0"/>
              </a:spcBef>
            </a:pPr>
            <a:r>
              <a:rPr lang="en-US" b="true" sz="8033">
                <a:solidFill>
                  <a:srgbClr val="000000"/>
                </a:solidFill>
                <a:latin typeface="Maven Pro Bold"/>
                <a:ea typeface="Maven Pro Bold"/>
                <a:cs typeface="Maven Pro Bold"/>
                <a:sym typeface="Maven Pro Bold"/>
              </a:rPr>
              <a:t>CODE SNIPPETS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3E6E0"/>
        </a:solidFill>
      </p:bgPr>
    </p:bg>
    <p:spTree>
      <p:nvGrpSpPr>
        <p:cNvPr id="1" name=""/>
        <p:cNvGrpSpPr/>
        <p:nvPr/>
      </p:nvGrpSpPr>
      <p:grpSpPr>
        <a:xfrm>
          <a:off x="0" y="0"/>
          <a:ext cx="0" cy="0"/>
          <a:chOff x="0" y="0"/>
          <a:chExt cx="0" cy="0"/>
        </a:xfrm>
      </p:grpSpPr>
      <p:sp>
        <p:nvSpPr>
          <p:cNvPr name="TextBox 2" id="2"/>
          <p:cNvSpPr txBox="true"/>
          <p:nvPr/>
        </p:nvSpPr>
        <p:spPr>
          <a:xfrm rot="0">
            <a:off x="3908432" y="3507631"/>
            <a:ext cx="10471136" cy="5999481"/>
          </a:xfrm>
          <a:prstGeom prst="rect">
            <a:avLst/>
          </a:prstGeom>
        </p:spPr>
        <p:txBody>
          <a:bodyPr anchor="t" rtlCol="false" tIns="0" lIns="0" bIns="0" rIns="0">
            <a:spAutoFit/>
          </a:bodyPr>
          <a:lstStyle/>
          <a:p>
            <a:pPr algn="just" marL="820416" indent="-410208" lvl="1">
              <a:lnSpc>
                <a:spcPts val="5319"/>
              </a:lnSpc>
              <a:buFont typeface="Arial"/>
              <a:buChar char="•"/>
            </a:pPr>
            <a:r>
              <a:rPr lang="en-US" sz="3799">
                <a:solidFill>
                  <a:srgbClr val="252930"/>
                </a:solidFill>
                <a:latin typeface="Maven Pro"/>
                <a:ea typeface="Maven Pro"/>
                <a:cs typeface="Maven Pro"/>
                <a:sym typeface="Maven Pro"/>
              </a:rPr>
              <a:t>For ROBOFLOW dataset, (after 3 epoch)</a:t>
            </a:r>
          </a:p>
          <a:p>
            <a:pPr algn="just">
              <a:lnSpc>
                <a:spcPts val="5319"/>
              </a:lnSpc>
            </a:pPr>
            <a:r>
              <a:rPr lang="en-US" sz="3799">
                <a:solidFill>
                  <a:srgbClr val="252930"/>
                </a:solidFill>
                <a:latin typeface="Maven Pro"/>
                <a:ea typeface="Maven Pro"/>
                <a:cs typeface="Maven Pro"/>
                <a:sym typeface="Maven Pro"/>
              </a:rPr>
              <a:t>       a)mAP@0.5 :- 0.148</a:t>
            </a:r>
          </a:p>
          <a:p>
            <a:pPr algn="just">
              <a:lnSpc>
                <a:spcPts val="5319"/>
              </a:lnSpc>
            </a:pPr>
            <a:r>
              <a:rPr lang="en-US" sz="3799">
                <a:solidFill>
                  <a:srgbClr val="252930"/>
                </a:solidFill>
                <a:latin typeface="Maven Pro"/>
                <a:ea typeface="Maven Pro"/>
                <a:cs typeface="Maven Pro"/>
                <a:sym typeface="Maven Pro"/>
              </a:rPr>
              <a:t>       b)mAP@0.5:0.95 ;- 0.0515</a:t>
            </a:r>
          </a:p>
          <a:p>
            <a:pPr algn="just">
              <a:lnSpc>
                <a:spcPts val="5319"/>
              </a:lnSpc>
            </a:pPr>
          </a:p>
          <a:p>
            <a:pPr algn="just" marL="820416" indent="-410208" lvl="1">
              <a:lnSpc>
                <a:spcPts val="5319"/>
              </a:lnSpc>
              <a:buFont typeface="Arial"/>
              <a:buChar char="•"/>
            </a:pPr>
            <a:r>
              <a:rPr lang="en-US" sz="3799">
                <a:solidFill>
                  <a:srgbClr val="252930"/>
                </a:solidFill>
                <a:latin typeface="Maven Pro"/>
                <a:ea typeface="Maven Pro"/>
                <a:cs typeface="Maven Pro"/>
                <a:sym typeface="Maven Pro"/>
              </a:rPr>
              <a:t>For Custom dataset, (after 5 epoch)</a:t>
            </a:r>
          </a:p>
          <a:p>
            <a:pPr algn="just">
              <a:lnSpc>
                <a:spcPts val="5319"/>
              </a:lnSpc>
            </a:pPr>
            <a:r>
              <a:rPr lang="en-US" sz="3799">
                <a:solidFill>
                  <a:srgbClr val="252930"/>
                </a:solidFill>
                <a:latin typeface="Maven Pro"/>
                <a:ea typeface="Maven Pro"/>
                <a:cs typeface="Maven Pro"/>
                <a:sym typeface="Maven Pro"/>
              </a:rPr>
              <a:t>       a)mAP@0.5 :- 0.00409</a:t>
            </a:r>
          </a:p>
          <a:p>
            <a:pPr algn="just">
              <a:lnSpc>
                <a:spcPts val="5319"/>
              </a:lnSpc>
            </a:pPr>
            <a:r>
              <a:rPr lang="en-US" sz="3799">
                <a:solidFill>
                  <a:srgbClr val="252930"/>
                </a:solidFill>
                <a:latin typeface="Maven Pro"/>
                <a:ea typeface="Maven Pro"/>
                <a:cs typeface="Maven Pro"/>
                <a:sym typeface="Maven Pro"/>
              </a:rPr>
              <a:t>       b)mAP@0.5:0.95 ;- 0.00148</a:t>
            </a:r>
          </a:p>
          <a:p>
            <a:pPr algn="just">
              <a:lnSpc>
                <a:spcPts val="5319"/>
              </a:lnSpc>
            </a:pPr>
          </a:p>
          <a:p>
            <a:pPr algn="just">
              <a:lnSpc>
                <a:spcPts val="5319"/>
              </a:lnSpc>
            </a:pPr>
          </a:p>
        </p:txBody>
      </p:sp>
      <p:sp>
        <p:nvSpPr>
          <p:cNvPr name="TextBox 3" id="3"/>
          <p:cNvSpPr txBox="true"/>
          <p:nvPr/>
        </p:nvSpPr>
        <p:spPr>
          <a:xfrm rot="0">
            <a:off x="5127312" y="1620837"/>
            <a:ext cx="7640663" cy="920751"/>
          </a:xfrm>
          <a:prstGeom prst="rect">
            <a:avLst/>
          </a:prstGeom>
        </p:spPr>
        <p:txBody>
          <a:bodyPr anchor="t" rtlCol="false" tIns="0" lIns="0" bIns="0" rIns="0">
            <a:spAutoFit/>
          </a:bodyPr>
          <a:lstStyle/>
          <a:p>
            <a:pPr algn="ctr">
              <a:lnSpc>
                <a:spcPts val="6400"/>
              </a:lnSpc>
            </a:pPr>
            <a:r>
              <a:rPr lang="en-US" b="true" sz="8000">
                <a:solidFill>
                  <a:srgbClr val="252930"/>
                </a:solidFill>
                <a:latin typeface="Maven Pro Bold"/>
                <a:ea typeface="Maven Pro Bold"/>
                <a:cs typeface="Maven Pro Bold"/>
                <a:sym typeface="Maven Pro Bold"/>
              </a:rPr>
              <a:t>RESULT</a:t>
            </a:r>
          </a:p>
        </p:txBody>
      </p:sp>
      <p:sp>
        <p:nvSpPr>
          <p:cNvPr name="Freeform 4" id="4"/>
          <p:cNvSpPr/>
          <p:nvPr/>
        </p:nvSpPr>
        <p:spPr>
          <a:xfrm flipH="false" flipV="false" rot="0">
            <a:off x="0" y="8229600"/>
            <a:ext cx="516220" cy="2057400"/>
          </a:xfrm>
          <a:custGeom>
            <a:avLst/>
            <a:gdLst/>
            <a:ahLst/>
            <a:cxnLst/>
            <a:rect r="r" b="b" t="t" l="l"/>
            <a:pathLst>
              <a:path h="2057400" w="516220">
                <a:moveTo>
                  <a:pt x="0" y="0"/>
                </a:moveTo>
                <a:lnTo>
                  <a:pt x="516220" y="0"/>
                </a:lnTo>
                <a:lnTo>
                  <a:pt x="516220" y="2057400"/>
                </a:lnTo>
                <a:lnTo>
                  <a:pt x="0" y="20574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354175" y="-123825"/>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5400000">
            <a:off x="1799290" y="9000190"/>
            <a:ext cx="516220" cy="2057400"/>
          </a:xfrm>
          <a:custGeom>
            <a:avLst/>
            <a:gdLst/>
            <a:ahLst/>
            <a:cxnLst/>
            <a:rect r="r" b="b" t="t" l="l"/>
            <a:pathLst>
              <a:path h="2057400" w="516220">
                <a:moveTo>
                  <a:pt x="0" y="0"/>
                </a:moveTo>
                <a:lnTo>
                  <a:pt x="516220" y="0"/>
                </a:lnTo>
                <a:lnTo>
                  <a:pt x="516220"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3E6E0"/>
        </a:solidFill>
      </p:bgPr>
    </p:bg>
    <p:spTree>
      <p:nvGrpSpPr>
        <p:cNvPr id="1" name=""/>
        <p:cNvGrpSpPr/>
        <p:nvPr/>
      </p:nvGrpSpPr>
      <p:grpSpPr>
        <a:xfrm>
          <a:off x="0" y="0"/>
          <a:ext cx="0" cy="0"/>
          <a:chOff x="0" y="0"/>
          <a:chExt cx="0" cy="0"/>
        </a:xfrm>
      </p:grpSpPr>
      <p:sp>
        <p:nvSpPr>
          <p:cNvPr name="TextBox 2" id="2"/>
          <p:cNvSpPr txBox="true"/>
          <p:nvPr/>
        </p:nvSpPr>
        <p:spPr>
          <a:xfrm rot="0">
            <a:off x="879317" y="3943350"/>
            <a:ext cx="15257298" cy="3482784"/>
          </a:xfrm>
          <a:prstGeom prst="rect">
            <a:avLst/>
          </a:prstGeom>
        </p:spPr>
        <p:txBody>
          <a:bodyPr anchor="t" rtlCol="false" tIns="0" lIns="0" bIns="0" rIns="0">
            <a:spAutoFit/>
          </a:bodyPr>
          <a:lstStyle/>
          <a:p>
            <a:pPr algn="just" marL="614626" indent="-307313" lvl="1">
              <a:lnSpc>
                <a:spcPts val="3985"/>
              </a:lnSpc>
              <a:buFont typeface="Arial"/>
              <a:buChar char="•"/>
            </a:pPr>
            <a:r>
              <a:rPr lang="en-US" sz="2846">
                <a:solidFill>
                  <a:srgbClr val="252D37"/>
                </a:solidFill>
                <a:latin typeface="Maven Pro"/>
                <a:ea typeface="Maven Pro"/>
                <a:cs typeface="Maven Pro"/>
                <a:sym typeface="Maven Pro"/>
              </a:rPr>
              <a:t>Finally, the trained model was converted to the optimized ONNX format for faster and more efficient inference, especially on edge devices</a:t>
            </a:r>
          </a:p>
          <a:p>
            <a:pPr algn="just" marL="614626" indent="-307313" lvl="1">
              <a:lnSpc>
                <a:spcPts val="3985"/>
              </a:lnSpc>
              <a:buFont typeface="Arial"/>
              <a:buChar char="•"/>
            </a:pPr>
            <a:r>
              <a:rPr lang="en-US" sz="2846">
                <a:solidFill>
                  <a:srgbClr val="252D37"/>
                </a:solidFill>
                <a:latin typeface="Maven Pro"/>
                <a:ea typeface="Maven Pro"/>
                <a:cs typeface="Maven Pro"/>
                <a:sym typeface="Maven Pro"/>
              </a:rPr>
              <a:t> Increasing the number of images in the dataset can lead to improved mAP and IoU, as the model learns better with more diverse and representative data.</a:t>
            </a:r>
          </a:p>
          <a:p>
            <a:pPr algn="just" marL="614626" indent="-307313" lvl="1">
              <a:lnSpc>
                <a:spcPts val="3985"/>
              </a:lnSpc>
              <a:buFont typeface="Arial"/>
              <a:buChar char="•"/>
            </a:pPr>
            <a:r>
              <a:rPr lang="en-US" sz="2846">
                <a:solidFill>
                  <a:srgbClr val="252D37"/>
                </a:solidFill>
                <a:latin typeface="Maven Pro"/>
                <a:ea typeface="Maven Pro"/>
                <a:cs typeface="Maven Pro"/>
                <a:sym typeface="Maven Pro"/>
              </a:rPr>
              <a:t>The detection performance is directly influenced by the size and diversity of the training dataset. Limited data in the custom dataset likely caused underfitting, whereas the larger Roboflow dataset helped the model generalize better.</a:t>
            </a:r>
          </a:p>
        </p:txBody>
      </p:sp>
      <p:sp>
        <p:nvSpPr>
          <p:cNvPr name="TextBox 3" id="3"/>
          <p:cNvSpPr txBox="true"/>
          <p:nvPr/>
        </p:nvSpPr>
        <p:spPr>
          <a:xfrm rot="0">
            <a:off x="4075462" y="2021006"/>
            <a:ext cx="8865010" cy="917406"/>
          </a:xfrm>
          <a:prstGeom prst="rect">
            <a:avLst/>
          </a:prstGeom>
        </p:spPr>
        <p:txBody>
          <a:bodyPr anchor="t" rtlCol="false" tIns="0" lIns="0" bIns="0" rIns="0">
            <a:spAutoFit/>
          </a:bodyPr>
          <a:lstStyle/>
          <a:p>
            <a:pPr algn="ctr">
              <a:lnSpc>
                <a:spcPts val="6497"/>
              </a:lnSpc>
            </a:pPr>
            <a:r>
              <a:rPr lang="en-US" b="true" sz="8121">
                <a:solidFill>
                  <a:srgbClr val="252D37"/>
                </a:solidFill>
                <a:latin typeface="Maven Pro Bold"/>
                <a:ea typeface="Maven Pro Bold"/>
                <a:cs typeface="Maven Pro Bold"/>
                <a:sym typeface="Maven Pro Bold"/>
              </a:rPr>
              <a:t>CONCLUSION</a:t>
            </a:r>
          </a:p>
        </p:txBody>
      </p:sp>
      <p:sp>
        <p:nvSpPr>
          <p:cNvPr name="Freeform 4" id="4"/>
          <p:cNvSpPr/>
          <p:nvPr/>
        </p:nvSpPr>
        <p:spPr>
          <a:xfrm flipH="true" flipV="false" rot="0">
            <a:off x="-211950" y="-104775"/>
            <a:ext cx="4114800" cy="4114800"/>
          </a:xfrm>
          <a:custGeom>
            <a:avLst/>
            <a:gdLst/>
            <a:ahLst/>
            <a:cxnLst/>
            <a:rect r="r" b="b" t="t" l="l"/>
            <a:pathLst>
              <a:path h="4114800" w="4114800">
                <a:moveTo>
                  <a:pt x="4114800" y="0"/>
                </a:moveTo>
                <a:lnTo>
                  <a:pt x="0" y="0"/>
                </a:lnTo>
                <a:lnTo>
                  <a:pt x="0" y="4114800"/>
                </a:lnTo>
                <a:lnTo>
                  <a:pt x="4114800" y="4114800"/>
                </a:lnTo>
                <a:lnTo>
                  <a:pt x="41148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7773650" y="8229600"/>
            <a:ext cx="516220" cy="2057400"/>
          </a:xfrm>
          <a:custGeom>
            <a:avLst/>
            <a:gdLst/>
            <a:ahLst/>
            <a:cxnLst/>
            <a:rect r="r" b="b" t="t" l="l"/>
            <a:pathLst>
              <a:path h="2057400" w="516220">
                <a:moveTo>
                  <a:pt x="0" y="0"/>
                </a:moveTo>
                <a:lnTo>
                  <a:pt x="516220" y="0"/>
                </a:lnTo>
                <a:lnTo>
                  <a:pt x="516220"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4542983" y="9077308"/>
            <a:ext cx="2716317" cy="1358159"/>
          </a:xfrm>
          <a:custGeom>
            <a:avLst/>
            <a:gdLst/>
            <a:ahLst/>
            <a:cxnLst/>
            <a:rect r="r" b="b" t="t" l="l"/>
            <a:pathLst>
              <a:path h="1358159" w="2716317">
                <a:moveTo>
                  <a:pt x="0" y="0"/>
                </a:moveTo>
                <a:lnTo>
                  <a:pt x="2716317" y="0"/>
                </a:lnTo>
                <a:lnTo>
                  <a:pt x="2716317" y="1358159"/>
                </a:lnTo>
                <a:lnTo>
                  <a:pt x="0" y="13581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p:cSld>
    <p:bg>
      <p:bgPr>
        <a:solidFill>
          <a:srgbClr val="E3E6E0"/>
        </a:solidFill>
      </p:bgPr>
    </p:bg>
    <p:spTree>
      <p:nvGrpSpPr>
        <p:cNvPr id="1" name=""/>
        <p:cNvGrpSpPr/>
        <p:nvPr/>
      </p:nvGrpSpPr>
      <p:grpSpPr>
        <a:xfrm>
          <a:off x="0" y="0"/>
          <a:ext cx="0" cy="0"/>
          <a:chOff x="0" y="0"/>
          <a:chExt cx="0" cy="0"/>
        </a:xfrm>
      </p:grpSpPr>
      <p:sp>
        <p:nvSpPr>
          <p:cNvPr name="TextBox 2" id="2"/>
          <p:cNvSpPr txBox="true"/>
          <p:nvPr/>
        </p:nvSpPr>
        <p:spPr>
          <a:xfrm rot="0">
            <a:off x="5735292" y="454203"/>
            <a:ext cx="5696069" cy="1377102"/>
          </a:xfrm>
          <a:prstGeom prst="rect">
            <a:avLst/>
          </a:prstGeom>
        </p:spPr>
        <p:txBody>
          <a:bodyPr anchor="t" rtlCol="false" tIns="0" lIns="0" bIns="0" rIns="0">
            <a:spAutoFit/>
          </a:bodyPr>
          <a:lstStyle/>
          <a:p>
            <a:pPr algn="ctr">
              <a:lnSpc>
                <a:spcPts val="11246"/>
              </a:lnSpc>
              <a:spcBef>
                <a:spcPct val="0"/>
              </a:spcBef>
            </a:pPr>
            <a:r>
              <a:rPr lang="en-US" b="true" sz="8033">
                <a:solidFill>
                  <a:srgbClr val="000000"/>
                </a:solidFill>
                <a:latin typeface="Maven Pro Bold"/>
                <a:ea typeface="Maven Pro Bold"/>
                <a:cs typeface="Maven Pro Bold"/>
                <a:sym typeface="Maven Pro Bold"/>
              </a:rPr>
              <a:t>LEARNINGS</a:t>
            </a:r>
          </a:p>
        </p:txBody>
      </p:sp>
      <p:sp>
        <p:nvSpPr>
          <p:cNvPr name="TextBox 3" id="3"/>
          <p:cNvSpPr txBox="true"/>
          <p:nvPr/>
        </p:nvSpPr>
        <p:spPr>
          <a:xfrm rot="0">
            <a:off x="1418733" y="2651125"/>
            <a:ext cx="14985555" cy="5613400"/>
          </a:xfrm>
          <a:prstGeom prst="rect">
            <a:avLst/>
          </a:prstGeom>
        </p:spPr>
        <p:txBody>
          <a:bodyPr anchor="t" rtlCol="false" tIns="0" lIns="0" bIns="0" rIns="0">
            <a:spAutoFit/>
          </a:bodyPr>
          <a:lstStyle/>
          <a:p>
            <a:pPr algn="l" marL="863599" indent="-431800" lvl="1">
              <a:lnSpc>
                <a:spcPts val="5599"/>
              </a:lnSpc>
              <a:buFont typeface="Arial"/>
              <a:buChar char="•"/>
            </a:pPr>
            <a:r>
              <a:rPr lang="en-US" sz="3999">
                <a:solidFill>
                  <a:srgbClr val="000000"/>
                </a:solidFill>
                <a:latin typeface="Maven Pro"/>
                <a:ea typeface="Maven Pro"/>
                <a:cs typeface="Maven Pro"/>
                <a:sym typeface="Maven Pro"/>
              </a:rPr>
              <a:t>We learned how to create your own custom dataset by collecting images and annotating it using CVAT</a:t>
            </a:r>
          </a:p>
          <a:p>
            <a:pPr algn="l" marL="863599" indent="-431800" lvl="1">
              <a:lnSpc>
                <a:spcPts val="5599"/>
              </a:lnSpc>
              <a:buFont typeface="Arial"/>
              <a:buChar char="•"/>
            </a:pPr>
            <a:r>
              <a:rPr lang="en-US" sz="3999">
                <a:solidFill>
                  <a:srgbClr val="000000"/>
                </a:solidFill>
                <a:latin typeface="Maven Pro"/>
                <a:ea typeface="Maven Pro"/>
                <a:cs typeface="Maven Pro"/>
                <a:sym typeface="Maven Pro"/>
              </a:rPr>
              <a:t>We learned how to train the YOLOv8 model using this custom made dataset </a:t>
            </a:r>
          </a:p>
          <a:p>
            <a:pPr algn="l" marL="863599" indent="-431800" lvl="1">
              <a:lnSpc>
                <a:spcPts val="5599"/>
              </a:lnSpc>
              <a:buFont typeface="Arial"/>
              <a:buChar char="•"/>
            </a:pPr>
            <a:r>
              <a:rPr lang="en-US" sz="3999">
                <a:solidFill>
                  <a:srgbClr val="000000"/>
                </a:solidFill>
                <a:latin typeface="Maven Pro"/>
                <a:ea typeface="Maven Pro"/>
                <a:cs typeface="Maven Pro"/>
                <a:sym typeface="Maven Pro"/>
              </a:rPr>
              <a:t>After training the model , we also learned how to evaluate the model using maP(mean average precision) and IoU(intersection over union) </a:t>
            </a:r>
          </a:p>
          <a:p>
            <a:pPr algn="l" marL="863599" indent="-431800" lvl="1">
              <a:lnSpc>
                <a:spcPts val="5599"/>
              </a:lnSpc>
              <a:buFont typeface="Arial"/>
              <a:buChar char="•"/>
            </a:pPr>
            <a:r>
              <a:rPr lang="en-US" sz="3999">
                <a:solidFill>
                  <a:srgbClr val="000000"/>
                </a:solidFill>
                <a:latin typeface="Maven Pro"/>
                <a:ea typeface="Maven Pro"/>
                <a:cs typeface="Maven Pro"/>
                <a:sym typeface="Maven Pro"/>
              </a:rPr>
              <a:t>Exporting the model into an ONNX format </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3E6E0"/>
        </a:solidFill>
      </p:bgPr>
    </p:bg>
    <p:spTree>
      <p:nvGrpSpPr>
        <p:cNvPr id="1" name=""/>
        <p:cNvGrpSpPr/>
        <p:nvPr/>
      </p:nvGrpSpPr>
      <p:grpSpPr>
        <a:xfrm>
          <a:off x="0" y="0"/>
          <a:ext cx="0" cy="0"/>
          <a:chOff x="0" y="0"/>
          <a:chExt cx="0" cy="0"/>
        </a:xfrm>
      </p:grpSpPr>
      <p:sp>
        <p:nvSpPr>
          <p:cNvPr name="TextBox 2" id="2"/>
          <p:cNvSpPr txBox="true"/>
          <p:nvPr/>
        </p:nvSpPr>
        <p:spPr>
          <a:xfrm rot="0">
            <a:off x="2754150" y="3832722"/>
            <a:ext cx="12779699" cy="1791414"/>
          </a:xfrm>
          <a:prstGeom prst="rect">
            <a:avLst/>
          </a:prstGeom>
        </p:spPr>
        <p:txBody>
          <a:bodyPr anchor="t" rtlCol="false" tIns="0" lIns="0" bIns="0" rIns="0">
            <a:spAutoFit/>
          </a:bodyPr>
          <a:lstStyle/>
          <a:p>
            <a:pPr algn="ctr">
              <a:lnSpc>
                <a:spcPts val="12435"/>
              </a:lnSpc>
            </a:pPr>
            <a:r>
              <a:rPr lang="en-US" b="true" sz="15544">
                <a:solidFill>
                  <a:srgbClr val="252D37"/>
                </a:solidFill>
                <a:latin typeface="Maven Pro Bold"/>
                <a:ea typeface="Maven Pro Bold"/>
                <a:cs typeface="Maven Pro Bold"/>
                <a:sym typeface="Maven Pro Bold"/>
              </a:rPr>
              <a:t>Thank You</a:t>
            </a:r>
          </a:p>
        </p:txBody>
      </p:sp>
      <p:sp>
        <p:nvSpPr>
          <p:cNvPr name="Freeform 3" id="3"/>
          <p:cNvSpPr/>
          <p:nvPr/>
        </p:nvSpPr>
        <p:spPr>
          <a:xfrm flipH="false" flipV="false" rot="0">
            <a:off x="0" y="6974593"/>
            <a:ext cx="809919" cy="3227938"/>
          </a:xfrm>
          <a:custGeom>
            <a:avLst/>
            <a:gdLst/>
            <a:ahLst/>
            <a:cxnLst/>
            <a:rect r="r" b="b" t="t" l="l"/>
            <a:pathLst>
              <a:path h="3227938" w="809919">
                <a:moveTo>
                  <a:pt x="0" y="0"/>
                </a:moveTo>
                <a:lnTo>
                  <a:pt x="809919" y="0"/>
                </a:lnTo>
                <a:lnTo>
                  <a:pt x="809919" y="3227938"/>
                </a:lnTo>
                <a:lnTo>
                  <a:pt x="0" y="32279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13969" y="8304597"/>
            <a:ext cx="4261740" cy="2130870"/>
          </a:xfrm>
          <a:custGeom>
            <a:avLst/>
            <a:gdLst/>
            <a:ahLst/>
            <a:cxnLst/>
            <a:rect r="r" b="b" t="t" l="l"/>
            <a:pathLst>
              <a:path h="2130870" w="4261740">
                <a:moveTo>
                  <a:pt x="0" y="0"/>
                </a:moveTo>
                <a:lnTo>
                  <a:pt x="4261740" y="0"/>
                </a:lnTo>
                <a:lnTo>
                  <a:pt x="4261740" y="2130870"/>
                </a:lnTo>
                <a:lnTo>
                  <a:pt x="0" y="21308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0800000">
            <a:off x="17582856" y="118636"/>
            <a:ext cx="809919" cy="3227938"/>
          </a:xfrm>
          <a:custGeom>
            <a:avLst/>
            <a:gdLst/>
            <a:ahLst/>
            <a:cxnLst/>
            <a:rect r="r" b="b" t="t" l="l"/>
            <a:pathLst>
              <a:path h="3227938" w="809919">
                <a:moveTo>
                  <a:pt x="0" y="0"/>
                </a:moveTo>
                <a:lnTo>
                  <a:pt x="809919" y="0"/>
                </a:lnTo>
                <a:lnTo>
                  <a:pt x="809919" y="3227938"/>
                </a:lnTo>
                <a:lnTo>
                  <a:pt x="0" y="32279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12517066" y="-114300"/>
            <a:ext cx="4261740" cy="2130870"/>
          </a:xfrm>
          <a:custGeom>
            <a:avLst/>
            <a:gdLst/>
            <a:ahLst/>
            <a:cxnLst/>
            <a:rect r="r" b="b" t="t" l="l"/>
            <a:pathLst>
              <a:path h="2130870" w="4261740">
                <a:moveTo>
                  <a:pt x="0" y="0"/>
                </a:moveTo>
                <a:lnTo>
                  <a:pt x="4261740" y="0"/>
                </a:lnTo>
                <a:lnTo>
                  <a:pt x="4261740" y="2130870"/>
                </a:lnTo>
                <a:lnTo>
                  <a:pt x="0" y="21308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DAGmaVuvamQ</dc:identifier>
  <dcterms:modified xsi:type="dcterms:W3CDTF">2011-08-01T06:04:30Z</dcterms:modified>
  <cp:revision>1</cp:revision>
  <dc:title>Presented by Mihir Gune</dc:title>
</cp:coreProperties>
</file>